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64" r:id="rId4"/>
    <p:sldId id="263" r:id="rId5"/>
    <p:sldId id="260" r:id="rId6"/>
    <p:sldId id="265" r:id="rId7"/>
    <p:sldId id="266" r:id="rId8"/>
    <p:sldId id="267" r:id="rId9"/>
    <p:sldId id="271" r:id="rId10"/>
    <p:sldId id="273" r:id="rId11"/>
    <p:sldId id="281" r:id="rId12"/>
    <p:sldId id="258" r:id="rId13"/>
    <p:sldId id="268" r:id="rId14"/>
    <p:sldId id="270" r:id="rId15"/>
    <p:sldId id="269" r:id="rId16"/>
    <p:sldId id="261" r:id="rId17"/>
    <p:sldId id="257" r:id="rId18"/>
    <p:sldId id="262" r:id="rId19"/>
    <p:sldId id="274" r:id="rId20"/>
    <p:sldId id="275" r:id="rId21"/>
    <p:sldId id="277" r:id="rId22"/>
    <p:sldId id="276" r:id="rId23"/>
    <p:sldId id="278" r:id="rId24"/>
    <p:sldId id="280" r:id="rId25"/>
    <p:sldId id="259" r:id="rId26"/>
    <p:sldId id="279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9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work\MatLab\docs\CDS\Countrie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work\MatLab\docs\CDS\Countrie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1 Yr CDS Spread (Bp)</a:t>
            </a:r>
            <a:endParaRPr lang="en-US" dirty="0"/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CDS Spread in bp (1 Yr)</c:v>
                </c:pt>
              </c:strCache>
            </c:strRef>
          </c:tx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United States</c:v>
                </c:pt>
                <c:pt idx="1">
                  <c:v>Germany</c:v>
                </c:pt>
                <c:pt idx="2">
                  <c:v>China</c:v>
                </c:pt>
                <c:pt idx="3">
                  <c:v>Italy</c:v>
                </c:pt>
                <c:pt idx="4">
                  <c:v>Portugal</c:v>
                </c:pt>
                <c:pt idx="5">
                  <c:v>Brazil</c:v>
                </c:pt>
                <c:pt idx="6">
                  <c:v>Egypt</c:v>
                </c:pt>
                <c:pt idx="7">
                  <c:v>Russia</c:v>
                </c:pt>
                <c:pt idx="8">
                  <c:v>Ukraine</c:v>
                </c:pt>
                <c:pt idx="9">
                  <c:v>Argentina</c:v>
                </c:pt>
                <c:pt idx="10">
                  <c:v>Venezuela</c:v>
                </c:pt>
              </c:strCache>
            </c:strRef>
          </c:cat>
          <c:val>
            <c:numRef>
              <c:f>Sheet1!$B$2:$B$12</c:f>
              <c:numCache>
                <c:formatCode>#,##0</c:formatCode>
                <c:ptCount val="11"/>
                <c:pt idx="0">
                  <c:v>17</c:v>
                </c:pt>
                <c:pt idx="1">
                  <c:v>18</c:v>
                </c:pt>
                <c:pt idx="2">
                  <c:v>93</c:v>
                </c:pt>
                <c:pt idx="3">
                  <c:v>107</c:v>
                </c:pt>
                <c:pt idx="4">
                  <c:v>179</c:v>
                </c:pt>
                <c:pt idx="5">
                  <c:v>226</c:v>
                </c:pt>
                <c:pt idx="6">
                  <c:v>309</c:v>
                </c:pt>
                <c:pt idx="7">
                  <c:v>583</c:v>
                </c:pt>
                <c:pt idx="8">
                  <c:v>2795</c:v>
                </c:pt>
                <c:pt idx="9">
                  <c:v>2987</c:v>
                </c:pt>
                <c:pt idx="10">
                  <c:v>5209</c:v>
                </c:pt>
              </c:numCache>
            </c:numRef>
          </c:val>
        </c:ser>
        <c:marker val="1"/>
        <c:axId val="319206144"/>
        <c:axId val="319207680"/>
      </c:lineChart>
      <c:catAx>
        <c:axId val="319206144"/>
        <c:scaling>
          <c:orientation val="minMax"/>
        </c:scaling>
        <c:axPos val="b"/>
        <c:tickLblPos val="nextTo"/>
        <c:crossAx val="319207680"/>
        <c:crosses val="autoZero"/>
        <c:auto val="1"/>
        <c:lblAlgn val="ctr"/>
        <c:lblOffset val="100"/>
      </c:catAx>
      <c:valAx>
        <c:axId val="319207680"/>
        <c:scaling>
          <c:orientation val="minMax"/>
        </c:scaling>
        <c:axPos val="l"/>
        <c:majorGridlines/>
        <c:numFmt formatCode="#,##0" sourceLinked="1"/>
        <c:tickLblPos val="nextTo"/>
        <c:crossAx val="319206144"/>
        <c:crosses val="autoZero"/>
        <c:crossBetween val="between"/>
      </c:valAx>
    </c:plotArea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1 Yr PD (R=0.4)</a:t>
            </a:r>
            <a:endParaRPr lang="en-US" dirty="0"/>
          </a:p>
        </c:rich>
      </c:tx>
      <c:layout/>
    </c:title>
    <c:plotArea>
      <c:layout>
        <c:manualLayout>
          <c:layoutTarget val="inner"/>
          <c:xMode val="edge"/>
          <c:yMode val="edge"/>
          <c:x val="0.11153032954214055"/>
          <c:y val="0.21251292452079934"/>
          <c:w val="0.84834621366773866"/>
          <c:h val="0.48340332458442692"/>
        </c:manualLayout>
      </c:layout>
      <c:lineChart>
        <c:grouping val="standard"/>
        <c:ser>
          <c:idx val="1"/>
          <c:order val="0"/>
          <c:tx>
            <c:strRef>
              <c:f>Sheet1!$C$1</c:f>
              <c:strCache>
                <c:ptCount val="1"/>
                <c:pt idx="0">
                  <c:v>PD (1 Yr)</c:v>
                </c:pt>
              </c:strCache>
            </c:strRef>
          </c:tx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United States</c:v>
                </c:pt>
                <c:pt idx="1">
                  <c:v>Germany</c:v>
                </c:pt>
                <c:pt idx="2">
                  <c:v>China</c:v>
                </c:pt>
                <c:pt idx="3">
                  <c:v>Italy</c:v>
                </c:pt>
                <c:pt idx="4">
                  <c:v>Portugal</c:v>
                </c:pt>
                <c:pt idx="5">
                  <c:v>Brazil</c:v>
                </c:pt>
                <c:pt idx="6">
                  <c:v>Egypt</c:v>
                </c:pt>
                <c:pt idx="7">
                  <c:v>Russia</c:v>
                </c:pt>
                <c:pt idx="8">
                  <c:v>Ukraine</c:v>
                </c:pt>
                <c:pt idx="9">
                  <c:v>Argentina</c:v>
                </c:pt>
                <c:pt idx="10">
                  <c:v>Venezuela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2.8333333333333392E-3</c:v>
                </c:pt>
                <c:pt idx="1">
                  <c:v>3.0000000000000092E-3</c:v>
                </c:pt>
                <c:pt idx="2">
                  <c:v>1.5500000000000061E-2</c:v>
                </c:pt>
                <c:pt idx="3">
                  <c:v>1.7833333333333333E-2</c:v>
                </c:pt>
                <c:pt idx="4">
                  <c:v>2.9833333333333416E-2</c:v>
                </c:pt>
                <c:pt idx="5">
                  <c:v>3.7666666666666682E-2</c:v>
                </c:pt>
                <c:pt idx="6">
                  <c:v>5.1499999999999997E-2</c:v>
                </c:pt>
                <c:pt idx="7">
                  <c:v>9.7166666666666748E-2</c:v>
                </c:pt>
                <c:pt idx="8">
                  <c:v>0.46583333333333327</c:v>
                </c:pt>
                <c:pt idx="9">
                  <c:v>0.49783333333333341</c:v>
                </c:pt>
                <c:pt idx="10">
                  <c:v>0.86816666666666653</c:v>
                </c:pt>
              </c:numCache>
            </c:numRef>
          </c:val>
        </c:ser>
        <c:marker val="1"/>
        <c:axId val="319497728"/>
        <c:axId val="319499264"/>
      </c:lineChart>
      <c:catAx>
        <c:axId val="319497728"/>
        <c:scaling>
          <c:orientation val="minMax"/>
        </c:scaling>
        <c:axPos val="b"/>
        <c:tickLblPos val="nextTo"/>
        <c:crossAx val="319499264"/>
        <c:crosses val="autoZero"/>
        <c:auto val="1"/>
        <c:lblAlgn val="ctr"/>
        <c:lblOffset val="100"/>
      </c:catAx>
      <c:valAx>
        <c:axId val="319499264"/>
        <c:scaling>
          <c:orientation val="minMax"/>
        </c:scaling>
        <c:axPos val="l"/>
        <c:majorGridlines/>
        <c:numFmt formatCode="0%" sourceLinked="1"/>
        <c:tickLblPos val="nextTo"/>
        <c:crossAx val="319497728"/>
        <c:crosses val="autoZero"/>
        <c:crossBetween val="between"/>
        <c:majorUnit val="0.2"/>
      </c:valAx>
    </c:plotArea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/>
              <a:t>Correlation</a:t>
            </a:r>
          </a:p>
        </c:rich>
      </c:tx>
      <c:layout>
        <c:manualLayout>
          <c:xMode val="edge"/>
          <c:yMode val="edge"/>
          <c:x val="0.40477047511918224"/>
          <c:y val="2.1276595744680847E-2"/>
        </c:manualLayout>
      </c:layout>
    </c:title>
    <c:plotArea>
      <c:layout/>
      <c:scatterChart>
        <c:scatterStyle val="smoothMarker"/>
        <c:ser>
          <c:idx val="0"/>
          <c:order val="0"/>
          <c:tx>
            <c:strRef>
              <c:f>Sheet1!$B$1</c:f>
              <c:strCache>
                <c:ptCount val="1"/>
                <c:pt idx="0">
                  <c:v>Rho</c:v>
                </c:pt>
              </c:strCache>
            </c:strRef>
          </c:tx>
          <c:marker>
            <c:symbol val="none"/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1.0000000000000005E-2</c:v>
                </c:pt>
                <c:pt idx="2">
                  <c:v>2.0000000000000011E-2</c:v>
                </c:pt>
                <c:pt idx="3">
                  <c:v>3.0000000000000002E-2</c:v>
                </c:pt>
                <c:pt idx="4">
                  <c:v>4.0000000000000022E-2</c:v>
                </c:pt>
                <c:pt idx="5">
                  <c:v>0.05</c:v>
                </c:pt>
                <c:pt idx="6">
                  <c:v>6.0000000000000032E-2</c:v>
                </c:pt>
                <c:pt idx="7">
                  <c:v>7.0000000000000021E-2</c:v>
                </c:pt>
                <c:pt idx="8">
                  <c:v>8.0000000000000043E-2</c:v>
                </c:pt>
                <c:pt idx="9">
                  <c:v>9.0000000000000024E-2</c:v>
                </c:pt>
                <c:pt idx="10">
                  <c:v>0.10000000000000003</c:v>
                </c:pt>
                <c:pt idx="11">
                  <c:v>0.10999999999999999</c:v>
                </c:pt>
                <c:pt idx="12">
                  <c:v>0.11999999999999998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0.15000000000000024</c:v>
                </c:pt>
                <c:pt idx="16">
                  <c:v>0.16</c:v>
                </c:pt>
                <c:pt idx="17">
                  <c:v>0.17</c:v>
                </c:pt>
                <c:pt idx="18">
                  <c:v>0.18000000000000024</c:v>
                </c:pt>
                <c:pt idx="19">
                  <c:v>0.19000000000000003</c:v>
                </c:pt>
                <c:pt idx="20">
                  <c:v>0.20000000000000004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0.4898979485566356</c:v>
                </c:pt>
                <c:pt idx="1">
                  <c:v>0.43907138276767355</c:v>
                </c:pt>
                <c:pt idx="2">
                  <c:v>0.40514877877216082</c:v>
                </c:pt>
                <c:pt idx="3">
                  <c:v>0.38311306323044203</c:v>
                </c:pt>
                <c:pt idx="4">
                  <c:v>0.36910734751342128</c:v>
                </c:pt>
                <c:pt idx="5">
                  <c:v>0.36034733221555537</c:v>
                </c:pt>
                <c:pt idx="6">
                  <c:v>0.35492879314609627</c:v>
                </c:pt>
                <c:pt idx="7">
                  <c:v>0.35160160126296192</c:v>
                </c:pt>
                <c:pt idx="8">
                  <c:v>0.34956812879129601</c:v>
                </c:pt>
                <c:pt idx="9">
                  <c:v>0.34832898183267835</c:v>
                </c:pt>
                <c:pt idx="10">
                  <c:v>0.34757524888848207</c:v>
                </c:pt>
                <c:pt idx="11">
                  <c:v>0.34711728935997466</c:v>
                </c:pt>
                <c:pt idx="12">
                  <c:v>0.34683922826174085</c:v>
                </c:pt>
                <c:pt idx="13">
                  <c:v>0.34667046701898008</c:v>
                </c:pt>
                <c:pt idx="14">
                  <c:v>0.34656806811341839</c:v>
                </c:pt>
                <c:pt idx="15">
                  <c:v>0.34650594529447604</c:v>
                </c:pt>
                <c:pt idx="16">
                  <c:v>0.34646826047323342</c:v>
                </c:pt>
                <c:pt idx="17">
                  <c:v>0.34644540147659814</c:v>
                </c:pt>
                <c:pt idx="18">
                  <c:v>0.34643153605942167</c:v>
                </c:pt>
                <c:pt idx="19">
                  <c:v>0.34642312598841746</c:v>
                </c:pt>
                <c:pt idx="20">
                  <c:v>0.34641802492302781</c:v>
                </c:pt>
              </c:numCache>
            </c:numRef>
          </c:yVal>
          <c:smooth val="1"/>
        </c:ser>
        <c:axId val="319548416"/>
        <c:axId val="319558784"/>
      </c:scatterChart>
      <c:valAx>
        <c:axId val="319548416"/>
        <c:scaling>
          <c:orientation val="minMax"/>
          <c:max val="0.2"/>
        </c:scaling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PD</a:t>
                </a:r>
              </a:p>
            </c:rich>
          </c:tx>
          <c:layout/>
        </c:title>
        <c:numFmt formatCode="General" sourceLinked="1"/>
        <c:tickLblPos val="nextTo"/>
        <c:crossAx val="319558784"/>
        <c:crosses val="autoZero"/>
        <c:crossBetween val="midCat"/>
      </c:valAx>
      <c:valAx>
        <c:axId val="319558784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Rho</a:t>
                </a:r>
              </a:p>
            </c:rich>
          </c:tx>
          <c:layout/>
        </c:title>
        <c:numFmt formatCode="General" sourceLinked="1"/>
        <c:tickLblPos val="nextTo"/>
        <c:crossAx val="319548416"/>
        <c:crosses val="autoZero"/>
        <c:crossBetween val="midCat"/>
      </c:valAx>
    </c:plotArea>
    <c:plotVisOnly val="1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 dirty="0"/>
              <a:t>Capital </a:t>
            </a:r>
            <a:r>
              <a:rPr lang="en-US" dirty="0" smtClean="0"/>
              <a:t>Requirement (R=0.4)</a:t>
            </a:r>
            <a:endParaRPr lang="en-US" dirty="0"/>
          </a:p>
        </c:rich>
      </c:tx>
      <c:layout>
        <c:manualLayout>
          <c:xMode val="edge"/>
          <c:yMode val="edge"/>
          <c:x val="0.22859510982179895"/>
          <c:y val="2.058840859178317E-2"/>
        </c:manualLayout>
      </c:layout>
    </c:title>
    <c:plotArea>
      <c:layout/>
      <c:scatterChart>
        <c:scatterStyle val="smoothMarker"/>
        <c:ser>
          <c:idx val="0"/>
          <c:order val="0"/>
          <c:tx>
            <c:strRef>
              <c:f>Sheet1!$D$1</c:f>
              <c:strCache>
                <c:ptCount val="1"/>
                <c:pt idx="0">
                  <c:v>Capital Requirement</c:v>
                </c:pt>
              </c:strCache>
            </c:strRef>
          </c:tx>
          <c:marker>
            <c:symbol val="none"/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</c:v>
                </c:pt>
                <c:pt idx="1">
                  <c:v>1.0000000000000005E-2</c:v>
                </c:pt>
                <c:pt idx="2">
                  <c:v>2.0000000000000011E-2</c:v>
                </c:pt>
                <c:pt idx="3">
                  <c:v>3.0000000000000002E-2</c:v>
                </c:pt>
                <c:pt idx="4">
                  <c:v>4.0000000000000022E-2</c:v>
                </c:pt>
                <c:pt idx="5">
                  <c:v>0.05</c:v>
                </c:pt>
                <c:pt idx="6">
                  <c:v>6.0000000000000032E-2</c:v>
                </c:pt>
                <c:pt idx="7">
                  <c:v>7.0000000000000021E-2</c:v>
                </c:pt>
                <c:pt idx="8">
                  <c:v>8.0000000000000043E-2</c:v>
                </c:pt>
                <c:pt idx="9">
                  <c:v>9.0000000000000024E-2</c:v>
                </c:pt>
                <c:pt idx="10">
                  <c:v>0.10000000000000003</c:v>
                </c:pt>
                <c:pt idx="11">
                  <c:v>0.10999999999999999</c:v>
                </c:pt>
                <c:pt idx="12">
                  <c:v>0.11999999999999998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0.15000000000000024</c:v>
                </c:pt>
                <c:pt idx="16">
                  <c:v>0.16</c:v>
                </c:pt>
                <c:pt idx="17">
                  <c:v>0.17</c:v>
                </c:pt>
                <c:pt idx="18">
                  <c:v>0.18000000000000024</c:v>
                </c:pt>
                <c:pt idx="19">
                  <c:v>0.19000000000000003</c:v>
                </c:pt>
                <c:pt idx="20">
                  <c:v>0.20000000000000004</c:v>
                </c:pt>
                <c:pt idx="21">
                  <c:v>0.21000000000000021</c:v>
                </c:pt>
                <c:pt idx="22">
                  <c:v>0.22000000000000006</c:v>
                </c:pt>
                <c:pt idx="23">
                  <c:v>0.23000000000000009</c:v>
                </c:pt>
                <c:pt idx="24">
                  <c:v>0.24000000000000021</c:v>
                </c:pt>
                <c:pt idx="25">
                  <c:v>0.25000000000000006</c:v>
                </c:pt>
                <c:pt idx="26">
                  <c:v>0.26000000000000006</c:v>
                </c:pt>
                <c:pt idx="27">
                  <c:v>0.27000000000000007</c:v>
                </c:pt>
                <c:pt idx="28">
                  <c:v>0.28000000000000008</c:v>
                </c:pt>
                <c:pt idx="29">
                  <c:v>0.29000000000000031</c:v>
                </c:pt>
                <c:pt idx="30">
                  <c:v>0.30000000000000032</c:v>
                </c:pt>
                <c:pt idx="31">
                  <c:v>0.31000000000000066</c:v>
                </c:pt>
                <c:pt idx="32">
                  <c:v>0.32000000000000073</c:v>
                </c:pt>
                <c:pt idx="33">
                  <c:v>0.3300000000000009</c:v>
                </c:pt>
                <c:pt idx="34">
                  <c:v>0.3400000000000003</c:v>
                </c:pt>
                <c:pt idx="35">
                  <c:v>0.35000000000000031</c:v>
                </c:pt>
                <c:pt idx="36">
                  <c:v>0.36000000000000032</c:v>
                </c:pt>
                <c:pt idx="37">
                  <c:v>0.37000000000000038</c:v>
                </c:pt>
                <c:pt idx="38">
                  <c:v>0.38000000000000084</c:v>
                </c:pt>
                <c:pt idx="39">
                  <c:v>0.39000000000000085</c:v>
                </c:pt>
                <c:pt idx="40">
                  <c:v>0.4000000000000003</c:v>
                </c:pt>
                <c:pt idx="41">
                  <c:v>0.41000000000000031</c:v>
                </c:pt>
                <c:pt idx="42">
                  <c:v>0.42000000000000032</c:v>
                </c:pt>
                <c:pt idx="43">
                  <c:v>0.43000000000000038</c:v>
                </c:pt>
                <c:pt idx="44">
                  <c:v>0.44000000000000022</c:v>
                </c:pt>
                <c:pt idx="45">
                  <c:v>0.45000000000000034</c:v>
                </c:pt>
                <c:pt idx="46">
                  <c:v>0.4600000000000003</c:v>
                </c:pt>
                <c:pt idx="47">
                  <c:v>0.47000000000000031</c:v>
                </c:pt>
                <c:pt idx="48">
                  <c:v>0.48000000000000032</c:v>
                </c:pt>
                <c:pt idx="49">
                  <c:v>0.49000000000000032</c:v>
                </c:pt>
                <c:pt idx="50">
                  <c:v>0.50000000000000022</c:v>
                </c:pt>
                <c:pt idx="51">
                  <c:v>0.51000000000000023</c:v>
                </c:pt>
                <c:pt idx="52">
                  <c:v>0.52000000000000024</c:v>
                </c:pt>
                <c:pt idx="53">
                  <c:v>0.53000000000000025</c:v>
                </c:pt>
                <c:pt idx="54">
                  <c:v>0.5400000000000007</c:v>
                </c:pt>
                <c:pt idx="55">
                  <c:v>0.5500000000000006</c:v>
                </c:pt>
                <c:pt idx="56">
                  <c:v>0.56000000000000061</c:v>
                </c:pt>
                <c:pt idx="57">
                  <c:v>0.57000000000000062</c:v>
                </c:pt>
                <c:pt idx="58">
                  <c:v>0.58000000000000029</c:v>
                </c:pt>
                <c:pt idx="59">
                  <c:v>0.5900000000000003</c:v>
                </c:pt>
                <c:pt idx="60">
                  <c:v>0.60000000000000064</c:v>
                </c:pt>
                <c:pt idx="61">
                  <c:v>0.61000000000000065</c:v>
                </c:pt>
                <c:pt idx="62">
                  <c:v>0.62000000000000144</c:v>
                </c:pt>
                <c:pt idx="63">
                  <c:v>0.63000000000000156</c:v>
                </c:pt>
                <c:pt idx="64">
                  <c:v>0.64000000000000168</c:v>
                </c:pt>
                <c:pt idx="65">
                  <c:v>0.6500000000000018</c:v>
                </c:pt>
                <c:pt idx="66">
                  <c:v>0.66000000000000192</c:v>
                </c:pt>
                <c:pt idx="67">
                  <c:v>0.67000000000000182</c:v>
                </c:pt>
                <c:pt idx="68">
                  <c:v>0.6800000000000006</c:v>
                </c:pt>
                <c:pt idx="69">
                  <c:v>0.69000000000000061</c:v>
                </c:pt>
                <c:pt idx="70">
                  <c:v>0.70000000000000062</c:v>
                </c:pt>
                <c:pt idx="71">
                  <c:v>0.71000000000000063</c:v>
                </c:pt>
                <c:pt idx="72">
                  <c:v>0.72000000000000064</c:v>
                </c:pt>
                <c:pt idx="73">
                  <c:v>0.73000000000000065</c:v>
                </c:pt>
                <c:pt idx="74">
                  <c:v>0.74000000000000155</c:v>
                </c:pt>
                <c:pt idx="75">
                  <c:v>0.75000000000000167</c:v>
                </c:pt>
                <c:pt idx="76">
                  <c:v>0.76000000000000179</c:v>
                </c:pt>
                <c:pt idx="77">
                  <c:v>0.77000000000000179</c:v>
                </c:pt>
                <c:pt idx="78">
                  <c:v>0.78000000000000069</c:v>
                </c:pt>
                <c:pt idx="79">
                  <c:v>0.7900000000000007</c:v>
                </c:pt>
                <c:pt idx="80">
                  <c:v>0.8000000000000006</c:v>
                </c:pt>
                <c:pt idx="81">
                  <c:v>0.81000000000000061</c:v>
                </c:pt>
                <c:pt idx="82">
                  <c:v>0.82000000000000062</c:v>
                </c:pt>
                <c:pt idx="83">
                  <c:v>0.83000000000000063</c:v>
                </c:pt>
                <c:pt idx="84">
                  <c:v>0.84000000000000064</c:v>
                </c:pt>
                <c:pt idx="85">
                  <c:v>0.85000000000000064</c:v>
                </c:pt>
                <c:pt idx="86">
                  <c:v>0.86000000000000065</c:v>
                </c:pt>
                <c:pt idx="87">
                  <c:v>0.87000000000000166</c:v>
                </c:pt>
                <c:pt idx="88">
                  <c:v>0.88000000000000067</c:v>
                </c:pt>
                <c:pt idx="89">
                  <c:v>0.89000000000000068</c:v>
                </c:pt>
                <c:pt idx="90">
                  <c:v>0.90000000000000069</c:v>
                </c:pt>
                <c:pt idx="91">
                  <c:v>0.9100000000000007</c:v>
                </c:pt>
                <c:pt idx="92">
                  <c:v>0.9200000000000006</c:v>
                </c:pt>
                <c:pt idx="93">
                  <c:v>0.9300000000000006</c:v>
                </c:pt>
                <c:pt idx="94">
                  <c:v>0.94000000000000061</c:v>
                </c:pt>
                <c:pt idx="95">
                  <c:v>0.95000000000000062</c:v>
                </c:pt>
                <c:pt idx="96">
                  <c:v>0.96000000000000063</c:v>
                </c:pt>
                <c:pt idx="97">
                  <c:v>0.97000000000000064</c:v>
                </c:pt>
                <c:pt idx="98">
                  <c:v>0.98000000000000054</c:v>
                </c:pt>
                <c:pt idx="99">
                  <c:v>0.99000000000000066</c:v>
                </c:pt>
              </c:numCache>
            </c:numRef>
          </c:xVal>
          <c:yVal>
            <c:numRef>
              <c:f>Sheet1!$D$2:$D$101</c:f>
              <c:numCache>
                <c:formatCode>General</c:formatCode>
                <c:ptCount val="100"/>
                <c:pt idx="0">
                  <c:v>0</c:v>
                </c:pt>
                <c:pt idx="1">
                  <c:v>8.4163607073906493E-2</c:v>
                </c:pt>
                <c:pt idx="2">
                  <c:v>0.11415541256249907</c:v>
                </c:pt>
                <c:pt idx="3">
                  <c:v>0.13517397483619464</c:v>
                </c:pt>
                <c:pt idx="4">
                  <c:v>0.15346813799214346</c:v>
                </c:pt>
                <c:pt idx="5">
                  <c:v>0.17069269157199882</c:v>
                </c:pt>
                <c:pt idx="6">
                  <c:v>0.18727118042238114</c:v>
                </c:pt>
                <c:pt idx="7">
                  <c:v>0.20326471634443449</c:v>
                </c:pt>
                <c:pt idx="8">
                  <c:v>0.21864553992596097</c:v>
                </c:pt>
                <c:pt idx="9">
                  <c:v>0.23338340684532058</c:v>
                </c:pt>
                <c:pt idx="10">
                  <c:v>0.24746739645963459</c:v>
                </c:pt>
                <c:pt idx="11">
                  <c:v>0.26090617381806813</c:v>
                </c:pt>
                <c:pt idx="12">
                  <c:v>0.27372248317012632</c:v>
                </c:pt>
                <c:pt idx="13">
                  <c:v>0.2859473784043996</c:v>
                </c:pt>
                <c:pt idx="14">
                  <c:v>0.29761576305923493</c:v>
                </c:pt>
                <c:pt idx="15">
                  <c:v>0.30876338872042758</c:v>
                </c:pt>
                <c:pt idx="16">
                  <c:v>0.31942502833288644</c:v>
                </c:pt>
                <c:pt idx="17">
                  <c:v>0.32963347884704741</c:v>
                </c:pt>
                <c:pt idx="18">
                  <c:v>0.33941910414225179</c:v>
                </c:pt>
                <c:pt idx="19">
                  <c:v>0.34880970793220661</c:v>
                </c:pt>
                <c:pt idx="20">
                  <c:v>0.35783059499562442</c:v>
                </c:pt>
                <c:pt idx="21">
                  <c:v>0.36650473030198988</c:v>
                </c:pt>
                <c:pt idx="22">
                  <c:v>0.37485294090125737</c:v>
                </c:pt>
                <c:pt idx="23">
                  <c:v>0.38289412855313515</c:v>
                </c:pt>
                <c:pt idx="24">
                  <c:v>0.39064547561762747</c:v>
                </c:pt>
                <c:pt idx="25">
                  <c:v>0.39812263556964578</c:v>
                </c:pt>
                <c:pt idx="26">
                  <c:v>0.40533990467861042</c:v>
                </c:pt>
                <c:pt idx="27">
                  <c:v>0.41231037428939216</c:v>
                </c:pt>
                <c:pt idx="28">
                  <c:v>0.4190460646533713</c:v>
                </c:pt>
                <c:pt idx="29">
                  <c:v>0.42555804195761854</c:v>
                </c:pt>
                <c:pt idx="30">
                  <c:v>0.43185652043811634</c:v>
                </c:pt>
                <c:pt idx="31">
                  <c:v>0.43795095145281515</c:v>
                </c:pt>
                <c:pt idx="32">
                  <c:v>0.44385010125705876</c:v>
                </c:pt>
                <c:pt idx="33">
                  <c:v>0.44956211903966442</c:v>
                </c:pt>
                <c:pt idx="34">
                  <c:v>0.45509459658163059</c:v>
                </c:pt>
                <c:pt idx="35">
                  <c:v>0.46045462071164434</c:v>
                </c:pt>
                <c:pt idx="36">
                  <c:v>0.46564881956229282</c:v>
                </c:pt>
                <c:pt idx="37">
                  <c:v>0.47068340348153276</c:v>
                </c:pt>
                <c:pt idx="38">
                  <c:v>0.47556420132528804</c:v>
                </c:pt>
                <c:pt idx="39">
                  <c:v>0.48029669274766351</c:v>
                </c:pt>
                <c:pt idx="40">
                  <c:v>0.48488603701280469</c:v>
                </c:pt>
                <c:pt idx="41">
                  <c:v>0.48933709877458131</c:v>
                </c:pt>
                <c:pt idx="42">
                  <c:v>0.4936544712049486</c:v>
                </c:pt>
                <c:pt idx="43">
                  <c:v>0.49784249679679687</c:v>
                </c:pt>
                <c:pt idx="44">
                  <c:v>0.50190528612098395</c:v>
                </c:pt>
                <c:pt idx="45">
                  <c:v>0.50584673477814468</c:v>
                </c:pt>
                <c:pt idx="46">
                  <c:v>0.50967053875308299</c:v>
                </c:pt>
                <c:pt idx="47">
                  <c:v>0.51338020835157461</c:v>
                </c:pt>
                <c:pt idx="48">
                  <c:v>0.51697908087578315</c:v>
                </c:pt>
                <c:pt idx="49">
                  <c:v>0.52047033217423777</c:v>
                </c:pt>
                <c:pt idx="50">
                  <c:v>0.52385698718513651</c:v>
                </c:pt>
                <c:pt idx="51">
                  <c:v>0.52714192957687944</c:v>
                </c:pt>
                <c:pt idx="52">
                  <c:v>0.53032791057701523</c:v>
                </c:pt>
                <c:pt idx="53">
                  <c:v>0.53341755706983107</c:v>
                </c:pt>
                <c:pt idx="54">
                  <c:v>0.53641337903320718</c:v>
                </c:pt>
                <c:pt idx="55">
                  <c:v>0.53931777637719569</c:v>
                </c:pt>
                <c:pt idx="56">
                  <c:v>0.54213304523945649</c:v>
                </c:pt>
                <c:pt idx="57">
                  <c:v>0.54486138378648308</c:v>
                </c:pt>
                <c:pt idx="58">
                  <c:v>0.54750489756389775</c:v>
                </c:pt>
                <c:pt idx="59">
                  <c:v>0.55006560443427865</c:v>
                </c:pt>
                <c:pt idx="60">
                  <c:v>0.55254543913664134</c:v>
                </c:pt>
                <c:pt idx="61">
                  <c:v>0.55494625749778004</c:v>
                </c:pt>
                <c:pt idx="62">
                  <c:v>0.55726984032227667</c:v>
                </c:pt>
                <c:pt idx="63">
                  <c:v>0.55951789698486554</c:v>
                </c:pt>
                <c:pt idx="64">
                  <c:v>0.56169206874592459</c:v>
                </c:pt>
                <c:pt idx="65">
                  <c:v>0.56379393180835868</c:v>
                </c:pt>
                <c:pt idx="66">
                  <c:v>0.56582500013161963</c:v>
                </c:pt>
                <c:pt idx="67">
                  <c:v>0.56778672801638252</c:v>
                </c:pt>
                <c:pt idx="68">
                  <c:v>0.5696805124711356</c:v>
                </c:pt>
                <c:pt idx="69">
                  <c:v>0.57150769536980661</c:v>
                </c:pt>
                <c:pt idx="70">
                  <c:v>0.57326956540739649</c:v>
                </c:pt>
                <c:pt idx="71">
                  <c:v>0.5749673598582874</c:v>
                </c:pt>
                <c:pt idx="72">
                  <c:v>0.57660226613958898</c:v>
                </c:pt>
                <c:pt idx="73">
                  <c:v>0.57817542317926773</c:v>
                </c:pt>
                <c:pt idx="74">
                  <c:v>0.5796879225859457</c:v>
                </c:pt>
                <c:pt idx="75">
                  <c:v>0.58114080961383763</c:v>
                </c:pt>
                <c:pt idx="76">
                  <c:v>0.58253508391249198</c:v>
                </c:pt>
                <c:pt idx="77">
                  <c:v>0.58387170004613886</c:v>
                </c:pt>
                <c:pt idx="78">
                  <c:v>0.58515156776159949</c:v>
                </c:pt>
                <c:pt idx="79">
                  <c:v>0.58637555197637048</c:v>
                </c:pt>
                <c:pt idx="80">
                  <c:v>0.58754447244889096</c:v>
                </c:pt>
                <c:pt idx="81">
                  <c:v>0.58865910308071889</c:v>
                </c:pt>
                <c:pt idx="82">
                  <c:v>0.58972017078381467</c:v>
                </c:pt>
                <c:pt idx="83">
                  <c:v>0.59072835382386002</c:v>
                </c:pt>
                <c:pt idx="84">
                  <c:v>0.5916842795200471</c:v>
                </c:pt>
                <c:pt idx="85">
                  <c:v>0.59258852113881966</c:v>
                </c:pt>
                <c:pt idx="86">
                  <c:v>0.59344159375787719</c:v>
                </c:pt>
                <c:pt idx="87">
                  <c:v>0.59424394878722731</c:v>
                </c:pt>
                <c:pt idx="88">
                  <c:v>0.59499596670023636</c:v>
                </c:pt>
                <c:pt idx="89">
                  <c:v>0.5956979473214461</c:v>
                </c:pt>
                <c:pt idx="90">
                  <c:v>0.59635009669103611</c:v>
                </c:pt>
                <c:pt idx="91">
                  <c:v>0.59695250898722307</c:v>
                </c:pt>
                <c:pt idx="92">
                  <c:v>0.59750514106335439</c:v>
                </c:pt>
                <c:pt idx="93">
                  <c:v>0.59800777548538719</c:v>
                </c:pt>
                <c:pt idx="94">
                  <c:v>0.59845996474358842</c:v>
                </c:pt>
                <c:pt idx="95">
                  <c:v>0.59886094264182888</c:v>
                </c:pt>
                <c:pt idx="96">
                  <c:v>0.59920947356051346</c:v>
                </c:pt>
                <c:pt idx="97">
                  <c:v>0.59950357006796029</c:v>
                </c:pt>
                <c:pt idx="98">
                  <c:v>0.59973988055659144</c:v>
                </c:pt>
                <c:pt idx="99">
                  <c:v>0.59991197334224722</c:v>
                </c:pt>
              </c:numCache>
            </c:numRef>
          </c:yVal>
          <c:smooth val="1"/>
        </c:ser>
        <c:axId val="319562112"/>
        <c:axId val="319584128"/>
      </c:scatterChart>
      <c:valAx>
        <c:axId val="319562112"/>
        <c:scaling>
          <c:orientation val="minMax"/>
          <c:max val="1"/>
        </c:scaling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PD</a:t>
                </a:r>
              </a:p>
            </c:rich>
          </c:tx>
          <c:layout/>
        </c:title>
        <c:numFmt formatCode="General" sourceLinked="1"/>
        <c:tickLblPos val="nextTo"/>
        <c:crossAx val="319584128"/>
        <c:crosses val="autoZero"/>
        <c:crossBetween val="midCat"/>
      </c:valAx>
      <c:valAx>
        <c:axId val="319584128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K</a:t>
                </a:r>
              </a:p>
            </c:rich>
          </c:tx>
          <c:layout/>
        </c:title>
        <c:numFmt formatCode="General" sourceLinked="1"/>
        <c:tickLblPos val="nextTo"/>
        <c:crossAx val="319562112"/>
        <c:crosses val="autoZero"/>
        <c:crossBetween val="midCat"/>
      </c:valAx>
    </c:plotArea>
    <c:plotVisOnly val="1"/>
  </c:chart>
  <c:externalData r:id="rId1"/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4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12" Type="http://schemas.openxmlformats.org/officeDocument/2006/relationships/image" Target="../media/image52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11" Type="http://schemas.openxmlformats.org/officeDocument/2006/relationships/image" Target="../media/image51.wmf"/><Relationship Id="rId5" Type="http://schemas.openxmlformats.org/officeDocument/2006/relationships/image" Target="../media/image45.wmf"/><Relationship Id="rId10" Type="http://schemas.openxmlformats.org/officeDocument/2006/relationships/image" Target="../media/image50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285E1-7459-4058-9ABC-01354C39A37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6.bin"/><Relationship Id="rId5" Type="http://schemas.openxmlformats.org/officeDocument/2006/relationships/oleObject" Target="../embeddings/oleObject15.bin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7.bin"/><Relationship Id="rId5" Type="http://schemas.openxmlformats.org/officeDocument/2006/relationships/oleObject" Target="../embeddings/oleObject26.bin"/><Relationship Id="rId4" Type="http://schemas.openxmlformats.org/officeDocument/2006/relationships/oleObject" Target="../embeddings/oleObject2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oleObject" Target="../embeddings/oleObject39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3.bin"/><Relationship Id="rId12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2.bin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1.bin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0.bin"/><Relationship Id="rId9" Type="http://schemas.openxmlformats.org/officeDocument/2006/relationships/oleObject" Target="../embeddings/oleObject35.bin"/><Relationship Id="rId14" Type="http://schemas.openxmlformats.org/officeDocument/2006/relationships/oleObject" Target="../embeddings/oleObject4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43.bin"/><Relationship Id="rId4" Type="http://schemas.openxmlformats.org/officeDocument/2006/relationships/oleObject" Target="../embeddings/oleObject4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46.bin"/><Relationship Id="rId4" Type="http://schemas.openxmlformats.org/officeDocument/2006/relationships/oleObject" Target="../embeddings/oleObject45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066800"/>
            <a:ext cx="7772400" cy="1066800"/>
          </a:xfrm>
        </p:spPr>
        <p:txBody>
          <a:bodyPr>
            <a:normAutofit fontScale="90000"/>
          </a:bodyPr>
          <a:lstStyle/>
          <a:p>
            <a:r>
              <a:rPr lang="en-US" sz="6700" dirty="0" smtClean="0"/>
              <a:t>Credit Derivatives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667000"/>
            <a:ext cx="7772400" cy="2133600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Technology and General Services Department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Econometric and Modeling Support</a:t>
            </a:r>
          </a:p>
          <a:p>
            <a:endParaRPr lang="en-US" sz="2400" dirty="0" smtClean="0"/>
          </a:p>
          <a:p>
            <a:r>
              <a:rPr lang="en-US" sz="2400" dirty="0" smtClean="0">
                <a:solidFill>
                  <a:schemeClr val="tx1"/>
                </a:solidFill>
              </a:rPr>
              <a:t>Alexei Goumilevski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February 19</a:t>
            </a:r>
            <a:r>
              <a:rPr lang="en-US" sz="2400" baseline="30000" dirty="0" smtClean="0">
                <a:solidFill>
                  <a:schemeClr val="tx1"/>
                </a:solidFill>
              </a:rPr>
              <a:t>th</a:t>
            </a:r>
            <a:r>
              <a:rPr lang="en-US" sz="2400" dirty="0" smtClean="0">
                <a:solidFill>
                  <a:schemeClr val="tx1"/>
                </a:solidFill>
              </a:rPr>
              <a:t>, 2015</a:t>
            </a:r>
          </a:p>
          <a:p>
            <a:endParaRPr lang="en-US" sz="2400" dirty="0" smtClean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Credit Default Swap</a:t>
            </a:r>
          </a:p>
          <a:p>
            <a:r>
              <a:rPr lang="en-US" dirty="0" smtClean="0"/>
              <a:t>Collateralized Debt Obligations</a:t>
            </a:r>
          </a:p>
          <a:p>
            <a:r>
              <a:rPr lang="en-US" dirty="0" smtClean="0"/>
              <a:t>Basel II Internal Ratings Based Approach</a:t>
            </a:r>
          </a:p>
          <a:p>
            <a:r>
              <a:rPr lang="en-US" dirty="0" err="1" smtClean="0"/>
              <a:t>MatLab</a:t>
            </a:r>
            <a:r>
              <a:rPr lang="en-US" dirty="0" smtClean="0"/>
              <a:t> Demo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OTC Credit Derivatives Market Size</a:t>
            </a:r>
            <a:endParaRPr 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51126" t="33672" r="21844" b="32655"/>
          <a:stretch>
            <a:fillRect/>
          </a:stretch>
        </p:blipFill>
        <p:spPr bwMode="auto">
          <a:xfrm>
            <a:off x="228600" y="1752600"/>
            <a:ext cx="4572000" cy="3906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17" name="Picture 1" descr="C:\Users\AGoumilevski\AppData\Local\Microsoft\Windows\Temporary Internet Files\Content.IE5\M3BIC855\Credit_default_swaps_vs_total_nominals_plus_deb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2133600"/>
            <a:ext cx="3352800" cy="29798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74638"/>
            <a:ext cx="4267200" cy="944562"/>
          </a:xfrm>
        </p:spPr>
        <p:txBody>
          <a:bodyPr/>
          <a:lstStyle/>
          <a:p>
            <a:r>
              <a:rPr lang="en-US" dirty="0" smtClean="0"/>
              <a:t>CDS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>
              <a:lnSpc>
                <a:spcPct val="80000"/>
              </a:lnSpc>
            </a:pPr>
            <a:r>
              <a:rPr lang="en-US" sz="2000" dirty="0" smtClean="0"/>
              <a:t>In a standard </a:t>
            </a:r>
            <a:r>
              <a:rPr lang="en-US" sz="2000" b="1" i="1" dirty="0" smtClean="0"/>
              <a:t>credit default swap</a:t>
            </a:r>
            <a:r>
              <a:rPr lang="en-US" sz="2000" dirty="0" smtClean="0"/>
              <a:t> (CDS), a counterparty buys protection against default by a particular company  or economic entity from a counterparty (seller).  </a:t>
            </a:r>
          </a:p>
          <a:p>
            <a:pPr marL="609600" indent="-609600">
              <a:lnSpc>
                <a:spcPct val="80000"/>
              </a:lnSpc>
            </a:pPr>
            <a:endParaRPr lang="en-US" sz="2000" dirty="0" smtClean="0"/>
          </a:p>
          <a:p>
            <a:pPr marL="609600" indent="-609600">
              <a:lnSpc>
                <a:spcPct val="80000"/>
              </a:lnSpc>
            </a:pPr>
            <a:r>
              <a:rPr lang="en-US" sz="2000" dirty="0" smtClean="0"/>
              <a:t>The company  or entity is known as the </a:t>
            </a:r>
            <a:r>
              <a:rPr lang="en-US" sz="2000" b="1" i="1" dirty="0" smtClean="0"/>
              <a:t>reference entity</a:t>
            </a:r>
            <a:r>
              <a:rPr lang="en-US" sz="2000" dirty="0" smtClean="0"/>
              <a:t> and a default by that entity is known as a </a:t>
            </a:r>
            <a:r>
              <a:rPr lang="en-US" sz="2000" b="1" i="1" dirty="0" smtClean="0"/>
              <a:t>credit event</a:t>
            </a:r>
            <a:r>
              <a:rPr lang="en-US" sz="2000" dirty="0" smtClean="0"/>
              <a:t>.  </a:t>
            </a:r>
          </a:p>
          <a:p>
            <a:pPr marL="609600" indent="-609600">
              <a:lnSpc>
                <a:spcPct val="80000"/>
              </a:lnSpc>
            </a:pPr>
            <a:endParaRPr lang="en-US" sz="2000" dirty="0" smtClean="0"/>
          </a:p>
          <a:p>
            <a:pPr marL="609600" indent="-609600">
              <a:lnSpc>
                <a:spcPct val="80000"/>
              </a:lnSpc>
            </a:pPr>
            <a:r>
              <a:rPr lang="en-US" sz="2000" dirty="0" smtClean="0"/>
              <a:t>The </a:t>
            </a:r>
            <a:r>
              <a:rPr lang="en-US" sz="2000" b="1" i="1" dirty="0" smtClean="0"/>
              <a:t>buyer </a:t>
            </a:r>
            <a:r>
              <a:rPr lang="en-US" sz="2000" dirty="0" smtClean="0"/>
              <a:t>of the CDS makes periodic payments or a </a:t>
            </a:r>
            <a:r>
              <a:rPr lang="en-US" sz="2000" b="1" i="1" dirty="0" smtClean="0"/>
              <a:t>premium</a:t>
            </a:r>
            <a:r>
              <a:rPr lang="en-US" sz="2000" dirty="0" smtClean="0"/>
              <a:t> to the </a:t>
            </a:r>
            <a:r>
              <a:rPr lang="en-US" sz="2000" b="1" i="1" dirty="0" smtClean="0"/>
              <a:t>seller</a:t>
            </a:r>
            <a:r>
              <a:rPr lang="en-US" sz="2000" dirty="0" smtClean="0"/>
              <a:t> until the end of the life of the CDS or until the credit event occurs.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US" sz="2000" dirty="0" smtClean="0"/>
              <a:t> </a:t>
            </a:r>
          </a:p>
          <a:p>
            <a:pPr marL="609600" indent="-609600">
              <a:lnSpc>
                <a:spcPct val="80000"/>
              </a:lnSpc>
            </a:pPr>
            <a:r>
              <a:rPr lang="en-US" sz="2000" dirty="0" smtClean="0"/>
              <a:t>Depending on the contract, if the credit event occurs, the buyer has the right to sell a particular bond (or loan) issued by the company for its par value (physical delivery) or receive a cash settlement based on the difference between the defaulted bond’s par value and its market price (recovery value) 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Credit Event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05000"/>
            <a:ext cx="8229600" cy="3810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Declared by International Swaps and Derivatives Association (ISDA) Determination Committee. </a:t>
            </a:r>
          </a:p>
          <a:p>
            <a:pPr>
              <a:buNone/>
            </a:pP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Credit event usually assumes one of the following:</a:t>
            </a:r>
          </a:p>
          <a:p>
            <a:r>
              <a:rPr lang="en-US" dirty="0" smtClean="0"/>
              <a:t>Failure to meet payment obligations when due</a:t>
            </a:r>
          </a:p>
          <a:p>
            <a:r>
              <a:rPr lang="en-US" dirty="0" smtClean="0"/>
              <a:t>Bankruptcy </a:t>
            </a:r>
          </a:p>
          <a:p>
            <a:r>
              <a:rPr lang="en-US" dirty="0" smtClean="0"/>
              <a:t>Material adverse restructuring of debt</a:t>
            </a:r>
          </a:p>
          <a:p>
            <a:r>
              <a:rPr lang="en-US" dirty="0" smtClean="0"/>
              <a:t>Ratings deterioration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Credit Default Swap</a:t>
            </a:r>
            <a:endParaRPr lang="en-US" dirty="0"/>
          </a:p>
        </p:txBody>
      </p:sp>
      <p:pic>
        <p:nvPicPr>
          <p:cNvPr id="21506" name="Picture 2" descr="C:\Users\AGoumilevski\AppData\Local\Microsoft\Windows\Temporary Internet Files\Content.IE5\WEBKQFIT\CDS-nodefault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600200"/>
            <a:ext cx="4495800" cy="4525963"/>
          </a:xfrm>
          <a:prstGeom prst="rect">
            <a:avLst/>
          </a:prstGeom>
          <a:noFill/>
        </p:spPr>
      </p:pic>
      <p:pic>
        <p:nvPicPr>
          <p:cNvPr id="21507" name="Picture 3" descr="C:\Users\AGoumilevski\AppData\Local\Microsoft\Windows\Temporary Internet Files\Content.IE5\0ZG4SE9B\CDS-defaul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1524000"/>
            <a:ext cx="4210050" cy="45434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CDS Cash Flows</a:t>
            </a:r>
            <a:endParaRPr lang="en-US" dirty="0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30854" t="37040" r="7203" b="15819"/>
          <a:stretch>
            <a:fillRect/>
          </a:stretch>
        </p:blipFill>
        <p:spPr bwMode="auto">
          <a:xfrm>
            <a:off x="533400" y="1981200"/>
            <a:ext cx="8001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5562600" cy="1020762"/>
          </a:xfrm>
        </p:spPr>
        <p:txBody>
          <a:bodyPr/>
          <a:lstStyle/>
          <a:p>
            <a:r>
              <a:rPr lang="en-US" dirty="0" smtClean="0"/>
              <a:t>CDS Cash Flows</a:t>
            </a:r>
            <a:endParaRPr lang="en-US" dirty="0"/>
          </a:p>
        </p:txBody>
      </p:sp>
      <p:pic>
        <p:nvPicPr>
          <p:cNvPr id="24594" name="Picture 18"/>
          <p:cNvPicPr>
            <a:picLocks noChangeAspect="1" noChangeArrowheads="1"/>
          </p:cNvPicPr>
          <p:nvPr/>
        </p:nvPicPr>
        <p:blipFill>
          <a:blip r:embed="rId2" cstate="print"/>
          <a:srcRect l="14371" t="13609" r="37725" b="53341"/>
          <a:stretch>
            <a:fillRect/>
          </a:stretch>
        </p:blipFill>
        <p:spPr bwMode="auto">
          <a:xfrm>
            <a:off x="1447800" y="4114800"/>
            <a:ext cx="6477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697" name="Picture 1"/>
          <p:cNvPicPr>
            <a:picLocks noChangeAspect="1" noChangeArrowheads="1"/>
          </p:cNvPicPr>
          <p:nvPr/>
        </p:nvPicPr>
        <p:blipFill>
          <a:blip r:embed="rId3" cstate="print"/>
          <a:srcRect l="13893" t="21739" r="39797" b="19565"/>
          <a:stretch>
            <a:fillRect/>
          </a:stretch>
        </p:blipFill>
        <p:spPr bwMode="auto">
          <a:xfrm>
            <a:off x="1676400" y="1295400"/>
            <a:ext cx="6019800" cy="2468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Net Present Value of CDS Cash Flows</a:t>
            </a:r>
            <a:endParaRPr lang="en-US" dirty="0"/>
          </a:p>
        </p:txBody>
      </p:sp>
      <p:graphicFrame>
        <p:nvGraphicFramePr>
          <p:cNvPr id="28675" name="Content Placeholder 3"/>
          <p:cNvGraphicFramePr>
            <a:graphicFrameLocks noChangeAspect="1"/>
          </p:cNvGraphicFramePr>
          <p:nvPr>
            <p:ph idx="1"/>
          </p:nvPr>
        </p:nvGraphicFramePr>
        <p:xfrm>
          <a:off x="990600" y="2209800"/>
          <a:ext cx="7391400" cy="396875"/>
        </p:xfrm>
        <a:graphic>
          <a:graphicData uri="http://schemas.openxmlformats.org/presentationml/2006/ole">
            <p:oleObj spid="_x0000_s28675" name="Equation" r:id="rId3" imgW="5194080" imgH="279360" progId="Equation.DSMT4">
              <p:embed/>
            </p:oleObj>
          </a:graphicData>
        </a:graphic>
      </p:graphicFrame>
      <p:graphicFrame>
        <p:nvGraphicFramePr>
          <p:cNvPr id="28676" name="Content Placeholder 3"/>
          <p:cNvGraphicFramePr>
            <a:graphicFrameLocks noChangeAspect="1"/>
          </p:cNvGraphicFramePr>
          <p:nvPr/>
        </p:nvGraphicFramePr>
        <p:xfrm>
          <a:off x="1066800" y="3733800"/>
          <a:ext cx="7427912" cy="420688"/>
        </p:xfrm>
        <a:graphic>
          <a:graphicData uri="http://schemas.openxmlformats.org/presentationml/2006/ole">
            <p:oleObj spid="_x0000_s28676" name="Equation" r:id="rId4" imgW="5054400" imgH="279360" progId="Equation.DSMT4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8200" y="1524000"/>
            <a:ext cx="1571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Premium leg: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3048000"/>
            <a:ext cx="142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Default leg: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990600" y="4552890"/>
            <a:ext cx="21021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Net present value:</a:t>
            </a:r>
            <a:endParaRPr lang="en-US" sz="2000" dirty="0"/>
          </a:p>
        </p:txBody>
      </p:sp>
      <p:graphicFrame>
        <p:nvGraphicFramePr>
          <p:cNvPr id="28677" name="Content Placeholder 3"/>
          <p:cNvGraphicFramePr>
            <a:graphicFrameLocks noChangeAspect="1"/>
          </p:cNvGraphicFramePr>
          <p:nvPr/>
        </p:nvGraphicFramePr>
        <p:xfrm>
          <a:off x="3298825" y="4611688"/>
          <a:ext cx="1787525" cy="296862"/>
        </p:xfrm>
        <a:graphic>
          <a:graphicData uri="http://schemas.openxmlformats.org/presentationml/2006/ole">
            <p:oleObj spid="_x0000_s28677" name="Equation" r:id="rId5" imgW="1218960" imgH="203040" progId="Equation.DSMT4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90600" y="5486400"/>
            <a:ext cx="21086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Breakeven spread:</a:t>
            </a:r>
            <a:endParaRPr lang="en-US" sz="2000" dirty="0"/>
          </a:p>
        </p:txBody>
      </p:sp>
      <p:graphicFrame>
        <p:nvGraphicFramePr>
          <p:cNvPr id="28678" name="Content Placeholder 3"/>
          <p:cNvGraphicFramePr>
            <a:graphicFrameLocks noChangeAspect="1"/>
          </p:cNvGraphicFramePr>
          <p:nvPr/>
        </p:nvGraphicFramePr>
        <p:xfrm>
          <a:off x="3429000" y="5562600"/>
          <a:ext cx="1173162" cy="371475"/>
        </p:xfrm>
        <a:graphic>
          <a:graphicData uri="http://schemas.openxmlformats.org/presentationml/2006/ole">
            <p:oleObj spid="_x0000_s28678" name="Equation" r:id="rId6" imgW="799920" imgH="2538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Reduced-Form Approach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95400" y="1447800"/>
            <a:ext cx="622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Probability  of default is described by a Poisson counting process:</a:t>
            </a: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295400" y="1905000"/>
          <a:ext cx="2686050" cy="381000"/>
        </p:xfrm>
        <a:graphic>
          <a:graphicData uri="http://schemas.openxmlformats.org/presentationml/2006/ole">
            <p:oleObj spid="_x0000_s57346" name="Equation" r:id="rId3" imgW="1790640" imgH="253800" progId="Equation.DSMT4">
              <p:embed/>
            </p:oleObj>
          </a:graphicData>
        </a:graphic>
      </p:graphicFrame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4" cstate="print"/>
          <a:srcRect l="29916" t="30769" r="5093" b="11538"/>
          <a:stretch>
            <a:fillRect/>
          </a:stretch>
        </p:blipFill>
        <p:spPr bwMode="auto">
          <a:xfrm>
            <a:off x="1828800" y="3200400"/>
            <a:ext cx="6477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219200" y="2514600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Default Process can be represented by a binomial tree in which tree terminates and makes a payment K at default</a:t>
            </a:r>
            <a:endParaRPr lang="en-US" dirty="0"/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4495800" y="1752600"/>
          <a:ext cx="3009900" cy="723900"/>
        </p:xfrm>
        <a:graphic>
          <a:graphicData uri="http://schemas.openxmlformats.org/presentationml/2006/ole">
            <p:oleObj spid="_x0000_s57347" name="Equation" r:id="rId5" imgW="2006280" imgH="482400" progId="Equation.DSMT4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114800" y="1981200"/>
          <a:ext cx="311727" cy="228600"/>
        </p:xfrm>
        <a:graphic>
          <a:graphicData uri="http://schemas.openxmlformats.org/presentationml/2006/ole">
            <p:oleObj spid="_x0000_s57349" name="Equation" r:id="rId6" imgW="190440" imgH="1396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r>
              <a:rPr lang="en-US" dirty="0" smtClean="0"/>
              <a:t>Reduced-Form Approach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47800" y="1371600"/>
            <a:ext cx="66222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Given the market default spreads at 1Y,2Y, 3Y, 5Y and 10Y one can apply a bootstrapping procedure to find hazard rate term structure: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Starting with the shortest maturity contract of 1Y calculate hazard rate for the first year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Proceed with 2Y contract and calculate hazard rate for the second year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Repeat until hazard rates for the longest contact are calculated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2" cstate="print"/>
          <a:srcRect l="32764" t="32653" r="7167" b="24898"/>
          <a:stretch>
            <a:fillRect/>
          </a:stretch>
        </p:blipFill>
        <p:spPr bwMode="auto">
          <a:xfrm>
            <a:off x="990600" y="3505200"/>
            <a:ext cx="6837406" cy="304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470025"/>
          </a:xfrm>
        </p:spPr>
        <p:txBody>
          <a:bodyPr>
            <a:normAutofit/>
          </a:bodyPr>
          <a:lstStyle/>
          <a:p>
            <a:r>
              <a:rPr lang="en-US" sz="4000" dirty="0" smtClean="0"/>
              <a:t>Sovereign Default Probabilities</a:t>
            </a:r>
            <a:br>
              <a:rPr lang="en-US" sz="4000" dirty="0" smtClean="0"/>
            </a:br>
            <a:r>
              <a:rPr lang="en-US" sz="4000" dirty="0" smtClean="0"/>
              <a:t>(from Deutsche Bank </a:t>
            </a:r>
            <a:r>
              <a:rPr lang="en-US" sz="4000" dirty="0"/>
              <a:t>R</a:t>
            </a:r>
            <a:r>
              <a:rPr lang="en-US" sz="4000" dirty="0" smtClean="0"/>
              <a:t>esearch)</a:t>
            </a:r>
            <a:endParaRPr lang="en-US" sz="4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2362200"/>
          <a:ext cx="3657599" cy="3352802"/>
        </p:xfrm>
        <a:graphic>
          <a:graphicData uri="http://schemas.openxmlformats.org/drawingml/2006/table">
            <a:tbl>
              <a:tblPr/>
              <a:tblGrid>
                <a:gridCol w="990599"/>
                <a:gridCol w="1828801"/>
                <a:gridCol w="838199"/>
              </a:tblGrid>
              <a:tr h="3475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1 Yr CDS </a:t>
                      </a: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Spread </a:t>
                      </a:r>
                      <a:r>
                        <a:rPr lang="en-US" sz="16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(Bp)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1 Yr PD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4497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United States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0.3%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Germany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0.3%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China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Italy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179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Brazil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Egypt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Russia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583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Ukraine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2,795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Argentina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2,987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Venezuela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5,209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4267200" y="1905000"/>
          <a:ext cx="39624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4343400" y="4343400"/>
          <a:ext cx="41148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5943600"/>
            <a:ext cx="3499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Approximation: Spread = (1-R) * PD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Collateralized Debt Obligations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 smtClean="0"/>
              <a:t>CDO is a security whose income payments and hence value is derived from and collateralized by a specified pool of underlying assets.</a:t>
            </a:r>
          </a:p>
          <a:p>
            <a:r>
              <a:rPr lang="en-US" sz="2000" dirty="0" smtClean="0"/>
              <a:t>CDO is "sliced" into “tranches”, which "catch" the cash flow of interest and principal payments in sequence based on seniority.</a:t>
            </a:r>
          </a:p>
          <a:p>
            <a:r>
              <a:rPr lang="en-US" sz="2000" dirty="0" smtClean="0"/>
              <a:t>If some loans default and the cash collected by the CDO is insufficient to pay all of its investors, those in the lowest, most "junior" tranches suffer losses first.</a:t>
            </a:r>
          </a:p>
          <a:p>
            <a:r>
              <a:rPr lang="en-US" sz="2000" dirty="0" smtClean="0"/>
              <a:t>The last to lose payment from default are the safest, most senior tranches.</a:t>
            </a:r>
          </a:p>
          <a:p>
            <a:r>
              <a:rPr lang="en-US" sz="2000" dirty="0" smtClean="0"/>
              <a:t>Consequently coupon payments (and interest rates) vary by tranche with the safest/most senior tranches paying the lowest and the lowest tranches paying the highest rates to compensate for higher default risk.</a:t>
            </a:r>
          </a:p>
          <a:p>
            <a:r>
              <a:rPr lang="en-US" sz="2000" dirty="0" smtClean="0"/>
              <a:t>Synthetic CDO </a:t>
            </a:r>
            <a:r>
              <a:rPr lang="en-US" sz="2000" smtClean="0"/>
              <a:t>underlyings </a:t>
            </a:r>
            <a:r>
              <a:rPr lang="en-US" sz="2000" dirty="0" smtClean="0"/>
              <a:t>are comprised of CDS, and Cash CDO of loans.</a:t>
            </a:r>
          </a:p>
          <a:p>
            <a:r>
              <a:rPr lang="en-US" sz="2000" dirty="0" smtClean="0"/>
              <a:t>Separate special purpose entities—rather than the parent investment bank—issue the CDOs and pay interest to investors.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CDO Market Share</a:t>
            </a:r>
            <a:endParaRPr 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 l="68824" t="29231" r="2941" b="13077"/>
          <a:stretch>
            <a:fillRect/>
          </a:stretch>
        </p:blipFill>
        <p:spPr bwMode="auto">
          <a:xfrm>
            <a:off x="2133600" y="1117600"/>
            <a:ext cx="4953000" cy="528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5257800" cy="1143000"/>
          </a:xfrm>
        </p:spPr>
        <p:txBody>
          <a:bodyPr/>
          <a:lstStyle/>
          <a:p>
            <a:r>
              <a:rPr lang="en-US" dirty="0" smtClean="0"/>
              <a:t>Structure of CDO</a:t>
            </a:r>
            <a:endParaRPr lang="en-US" dirty="0"/>
          </a:p>
        </p:txBody>
      </p:sp>
      <p:pic>
        <p:nvPicPr>
          <p:cNvPr id="26625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1207" t="13469" r="39640" b="9085"/>
          <a:stretch>
            <a:fillRect/>
          </a:stretch>
        </p:blipFill>
        <p:spPr bwMode="auto">
          <a:xfrm>
            <a:off x="609600" y="2133600"/>
            <a:ext cx="3962400" cy="3719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 cstate="print"/>
          <a:srcRect l="26212" t="34286" r="23003" b="7755"/>
          <a:stretch>
            <a:fillRect/>
          </a:stretch>
        </p:blipFill>
        <p:spPr bwMode="auto">
          <a:xfrm>
            <a:off x="4353060" y="1981200"/>
            <a:ext cx="479094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153400" cy="762000"/>
          </a:xfrm>
        </p:spPr>
        <p:txBody>
          <a:bodyPr/>
          <a:lstStyle/>
          <a:p>
            <a:r>
              <a:rPr lang="en-US" dirty="0" smtClean="0"/>
              <a:t>iTraxx 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2057400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/>
              <a:t>CDS index covers regions of Europe, Japan and non-Japan Asia.</a:t>
            </a:r>
          </a:p>
          <a:p>
            <a:r>
              <a:rPr lang="en-US" sz="2000" dirty="0" smtClean="0"/>
              <a:t>iTraxx Europe is composed of the most liquid 125 CDS referencing European investment grade credits.</a:t>
            </a:r>
          </a:p>
          <a:p>
            <a:r>
              <a:rPr lang="en-US" sz="2000" dirty="0" smtClean="0"/>
              <a:t>Constituents of this index are changed (rolled over) every six months on March 20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and September 20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Index quotes are provided by </a:t>
            </a:r>
            <a:r>
              <a:rPr lang="en-US" sz="2000" dirty="0" err="1" smtClean="0"/>
              <a:t>Markit</a:t>
            </a:r>
            <a:r>
              <a:rPr lang="en-US" sz="2000" dirty="0" smtClean="0"/>
              <a:t> Ltd. (</a:t>
            </a:r>
            <a:r>
              <a:rPr lang="en-US" sz="2000" dirty="0" smtClean="0"/>
              <a:t>see)</a:t>
            </a:r>
            <a:endParaRPr lang="en-US" sz="2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3048000"/>
          <a:ext cx="8763000" cy="3471573"/>
        </p:xfrm>
        <a:graphic>
          <a:graphicData uri="http://schemas.openxmlformats.org/drawingml/2006/table">
            <a:tbl>
              <a:tblPr/>
              <a:tblGrid>
                <a:gridCol w="758336"/>
                <a:gridCol w="758336"/>
                <a:gridCol w="1836128"/>
                <a:gridCol w="1281479"/>
                <a:gridCol w="4128721"/>
              </a:tblGrid>
              <a:tr h="2442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Index name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Number of entities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                       Description</a:t>
                      </a:r>
                      <a:endParaRPr lang="en-US" sz="1100" b="1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libri"/>
                      </a:endParaRP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3955">
                <a:tc rowSpan="1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Europe</a:t>
                      </a:r>
                    </a:p>
                  </a:txBody>
                  <a:tcPr marL="7685" marR="7685" marT="7685" marB="0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Benchmark Indices</a:t>
                      </a:r>
                    </a:p>
                  </a:txBody>
                  <a:tcPr marL="7685" marR="7685" marT="7685" marB="0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Europe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Most actively traded names in the six months prior to the index roll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3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Europe HiVol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Highest spread (riskiest) non-financial names from iTraxx Europe index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2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Europe Crossover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Sub-investment grade names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31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LEVX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European 1st Lien Loan CDS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2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Sector Indices</a:t>
                      </a:r>
                    </a:p>
                  </a:txBody>
                  <a:tcPr marL="7685" marR="7685" marT="7685" marB="0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Non-Financials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Non-financial names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2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Financials Senior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Senior subordination financial names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2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Financials Sub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Junior subordination financial names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77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TMT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Telecommunications, media and technology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3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Industrials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Industrial names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31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Energy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Energy industry names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2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Consumers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Manufacturers of consumer products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78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Autos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Automobile industry names 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09601"/>
            <a:ext cx="7696200" cy="990599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Monthly iTraxx Tranche for March 28</a:t>
            </a:r>
            <a:r>
              <a:rPr lang="en-US" sz="2800" b="1" baseline="30000" dirty="0" smtClean="0"/>
              <a:t>th</a:t>
            </a:r>
            <a:r>
              <a:rPr lang="en-US" sz="2800" b="1" dirty="0" smtClean="0"/>
              <a:t>, 2013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781800" cy="1295400"/>
          </a:xfrm>
        </p:spPr>
        <p:txBody>
          <a:bodyPr>
            <a:normAutofit/>
          </a:bodyPr>
          <a:lstStyle/>
          <a:p>
            <a:r>
              <a:rPr lang="en-US" sz="1400" b="1" dirty="0" smtClean="0"/>
              <a:t>iTraxx Europe Series 15 Version 1 (RED Code: 2I666VAV7) (http://www.creditfixings.com/CreditEventAuctions/itraxx.jsp)</a:t>
            </a:r>
          </a:p>
          <a:p>
            <a:r>
              <a:rPr lang="en-US" sz="1400" b="1" dirty="0" smtClean="0"/>
              <a:t>Tranches 0-3, 3-6 are up-fronts with a fixed 500bps spread, Tranche 6-9 has a 300bps fixed spread.  Tranches 9-12, 12-22, 22-100 are up-fronts with a fixed 100bps spread. 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43000" y="2798032"/>
          <a:ext cx="7162801" cy="3458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969"/>
                <a:gridCol w="980173"/>
                <a:gridCol w="1055570"/>
                <a:gridCol w="1055570"/>
                <a:gridCol w="980173"/>
                <a:gridCol w="980173"/>
                <a:gridCol w="980173"/>
              </a:tblGrid>
              <a:tr h="32313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Tranche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5 Yr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Upfront (Bp)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Bid (Bp)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Mid (Bp)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Ask (Bp)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Dealers</a:t>
                      </a:r>
                    </a:p>
                  </a:txBody>
                  <a:tcPr marL="78154" marR="78154" marT="39077" marB="39077" anchor="ctr"/>
                </a:tc>
              </a:tr>
              <a:tr h="39064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Equity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0%-3%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500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3331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3481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3631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</a:t>
                      </a:r>
                    </a:p>
                  </a:txBody>
                  <a:tcPr marL="78154" marR="78154" marT="39077" marB="39077" anchor="ctr"/>
                </a:tc>
              </a:tr>
              <a:tr h="39064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Junior Mezzanine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3%-6%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500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150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300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45</a:t>
                      </a:r>
                      <a:r>
                        <a:rPr lang="en-US" sz="1500" dirty="0"/>
                        <a:t>0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1*</a:t>
                      </a:r>
                    </a:p>
                  </a:txBody>
                  <a:tcPr marL="78154" marR="78154" marT="39077" marB="39077" anchor="ctr"/>
                </a:tc>
              </a:tr>
              <a:tr h="39064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Senior Mezzanine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6%-9%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300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-75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75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225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1*</a:t>
                      </a:r>
                    </a:p>
                  </a:txBody>
                  <a:tcPr marL="78154" marR="78154" marT="39077" marB="39077" anchor="ctr"/>
                </a:tc>
              </a:tr>
              <a:tr h="39064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Junior Senior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9%-12%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100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149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174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199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1*</a:t>
                      </a:r>
                    </a:p>
                  </a:txBody>
                  <a:tcPr marL="78154" marR="78154" marT="39077" marB="39077" anchor="ctr"/>
                </a:tc>
              </a:tr>
              <a:tr h="39064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Senior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12%-22%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100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63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80.5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98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1*</a:t>
                      </a:r>
                    </a:p>
                  </a:txBody>
                  <a:tcPr marL="78154" marR="78154" marT="39077" marB="39077" anchor="ctr"/>
                </a:tc>
              </a:tr>
              <a:tr h="39064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Super Senior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22%-100%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100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15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17.5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20</a:t>
                      </a:r>
                      <a:endParaRPr lang="en-US" sz="1500" dirty="0"/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1*</a:t>
                      </a:r>
                    </a:p>
                  </a:txBody>
                  <a:tcPr marL="78154" marR="78154" marT="39077" marB="39077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CDX 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229600" cy="1905000"/>
          </a:xfrm>
        </p:spPr>
        <p:txBody>
          <a:bodyPr>
            <a:normAutofit fontScale="92500" lnSpcReduction="10000"/>
          </a:bodyPr>
          <a:lstStyle/>
          <a:p>
            <a:r>
              <a:rPr lang="en-US" sz="2100" dirty="0" smtClean="0"/>
              <a:t>CDS index covers regions of North America and Emerging Markets. </a:t>
            </a:r>
          </a:p>
          <a:p>
            <a:r>
              <a:rPr lang="en-US" sz="2100" dirty="0" smtClean="0"/>
              <a:t>CDX.NA.IG is composed of equally weighted 125 CDS investment grade CDSs.</a:t>
            </a:r>
          </a:p>
          <a:p>
            <a:r>
              <a:rPr lang="en-US" sz="2100" dirty="0" smtClean="0"/>
              <a:t>A new series of CDS indices is issued every six months by </a:t>
            </a:r>
            <a:r>
              <a:rPr lang="en-US" sz="2100" dirty="0" err="1" smtClean="0"/>
              <a:t>Markit</a:t>
            </a:r>
            <a:r>
              <a:rPr lang="en-US" sz="2100" dirty="0" smtClean="0"/>
              <a:t> Group Limited.  This process is intended to ensure that the index does not become "cluttered" with instruments that no longer exist, or which trade extremely with low  liquidity.</a:t>
            </a:r>
          </a:p>
          <a:p>
            <a:endParaRPr lang="en-US" sz="20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2895600"/>
          <a:ext cx="7620001" cy="3657600"/>
        </p:xfrm>
        <a:graphic>
          <a:graphicData uri="http://schemas.openxmlformats.org/drawingml/2006/table">
            <a:tbl>
              <a:tblPr/>
              <a:tblGrid>
                <a:gridCol w="1458502"/>
                <a:gridCol w="1426741"/>
                <a:gridCol w="4734758"/>
              </a:tblGrid>
              <a:tr h="6625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Index Name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Number of entities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             Description</a:t>
                      </a:r>
                      <a:endParaRPr lang="en-US" sz="1200" b="1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libri"/>
                      </a:endParaRP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CDX.NA.IG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Investment grade CDSs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3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CDX.NA.IG.HVOL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High Volatility investment grade CDSs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3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CDX.NA.HY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High Yield CDSs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3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CDX.NA.HY.BB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Index of high yield CDSs with a BB rating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83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CDX.NA.HY.B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Index of high yield CDSs with a B rating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66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CDX.NA.XO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CDSs that are at the crossover point between investment grade and junk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50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CDX.EM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Emerging market CDSs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3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CDX.EM Diversified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Emerging market CDSs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3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LCDX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NA First Lien Leverage Loans CDSs 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Pricing CDO Tranche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43000" y="1600200"/>
            <a:ext cx="1571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Premium leg:</a:t>
            </a:r>
            <a:endParaRPr lang="en-US" sz="20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193332" y="1506378"/>
          <a:ext cx="4121868" cy="703422"/>
        </p:xfrm>
        <a:graphic>
          <a:graphicData uri="http://schemas.openxmlformats.org/presentationml/2006/ole">
            <p:oleObj spid="_x0000_s58370" name="Equation" r:id="rId3" imgW="2527200" imgH="431640" progId="Equation.DSMT4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" y="3124200"/>
            <a:ext cx="142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Default leg:</a:t>
            </a:r>
            <a:endParaRPr lang="en-US" sz="2000" dirty="0"/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3173339" y="2971800"/>
          <a:ext cx="4785558" cy="703490"/>
        </p:xfrm>
        <a:graphic>
          <a:graphicData uri="http://schemas.openxmlformats.org/presentationml/2006/ole">
            <p:oleObj spid="_x0000_s58371" name="Equation" r:id="rId4" imgW="2933640" imgH="431640" progId="Equation.DSMT4">
              <p:embed/>
            </p:oleObj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15939" y="4038600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Expected loss:</a:t>
            </a:r>
            <a:endParaRPr lang="en-US" sz="2000" dirty="0"/>
          </a:p>
        </p:txBody>
      </p:sp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3173339" y="3810000"/>
          <a:ext cx="4827661" cy="769937"/>
        </p:xfrm>
        <a:graphic>
          <a:graphicData uri="http://schemas.openxmlformats.org/presentationml/2006/ole">
            <p:oleObj spid="_x0000_s58372" name="Equation" r:id="rId5" imgW="2781000" imgH="444240" progId="Equation.DSMT4">
              <p:embed/>
            </p:oleObj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3200400" y="2286000"/>
          <a:ext cx="2832847" cy="436563"/>
        </p:xfrm>
        <a:graphic>
          <a:graphicData uri="http://schemas.openxmlformats.org/presentationml/2006/ole">
            <p:oleObj spid="_x0000_s58373" name="Equation" r:id="rId6" imgW="1650960" imgH="253800" progId="Equation.DSMT4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43000" y="2286000"/>
            <a:ext cx="1838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Discount factor: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1115938" y="4800600"/>
            <a:ext cx="6046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Given portfolio cumulative loss distribution function F,</a:t>
            </a:r>
            <a:endParaRPr lang="en-US" sz="2000" dirty="0"/>
          </a:p>
        </p:txBody>
      </p:sp>
      <p:graphicFrame>
        <p:nvGraphicFramePr>
          <p:cNvPr id="58374" name="Object 6"/>
          <p:cNvGraphicFramePr>
            <a:graphicFrameLocks noChangeAspect="1"/>
          </p:cNvGraphicFramePr>
          <p:nvPr/>
        </p:nvGraphicFramePr>
        <p:xfrm>
          <a:off x="1219200" y="5334000"/>
          <a:ext cx="6194425" cy="923925"/>
        </p:xfrm>
        <a:graphic>
          <a:graphicData uri="http://schemas.openxmlformats.org/presentationml/2006/ole">
            <p:oleObj spid="_x0000_s58374" name="Equation" r:id="rId7" imgW="3568680" imgH="5331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1143000"/>
          </a:xfrm>
        </p:spPr>
        <p:txBody>
          <a:bodyPr/>
          <a:lstStyle/>
          <a:p>
            <a:r>
              <a:rPr lang="en-US" dirty="0" smtClean="0"/>
              <a:t>One Factor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990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We assume that portfolio of referenced assets consists of N financial</a:t>
            </a:r>
          </a:p>
          <a:p>
            <a:pPr>
              <a:buNone/>
            </a:pPr>
            <a:r>
              <a:rPr lang="en-US" sz="2000" dirty="0" smtClean="0"/>
              <a:t> instruments. Asset return is described by common and idiosyncratic risk factors:</a:t>
            </a:r>
          </a:p>
          <a:p>
            <a:pPr>
              <a:buNone/>
            </a:pPr>
            <a:endParaRPr lang="en-US" sz="20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483425" y="2057400"/>
          <a:ext cx="2545775" cy="533401"/>
        </p:xfrm>
        <a:graphic>
          <a:graphicData uri="http://schemas.openxmlformats.org/presentationml/2006/ole">
            <p:oleObj spid="_x0000_s65538" name="Equation" r:id="rId3" imgW="1333440" imgH="27936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2728911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Assume that default occurs when the asset return crosses the threshold       ,</a:t>
            </a:r>
          </a:p>
          <a:p>
            <a:r>
              <a:rPr lang="en-US" sz="2000" dirty="0" smtClean="0"/>
              <a:t>which is implied by obligor’s default probability: </a:t>
            </a:r>
            <a:endParaRPr lang="en-US" sz="2000" dirty="0"/>
          </a:p>
        </p:txBody>
      </p:sp>
      <p:graphicFrame>
        <p:nvGraphicFramePr>
          <p:cNvPr id="65539" name="Object 3"/>
          <p:cNvGraphicFramePr>
            <a:graphicFrameLocks noChangeAspect="1"/>
          </p:cNvGraphicFramePr>
          <p:nvPr/>
        </p:nvGraphicFramePr>
        <p:xfrm>
          <a:off x="7924800" y="2652711"/>
          <a:ext cx="356315" cy="457200"/>
        </p:xfrm>
        <a:graphic>
          <a:graphicData uri="http://schemas.openxmlformats.org/presentationml/2006/ole">
            <p:oleObj spid="_x0000_s65539" name="Equation" r:id="rId4" imgW="177480" imgH="228600" progId="Equation.DSMT4">
              <p:embed/>
            </p:oleObj>
          </a:graphicData>
        </a:graphic>
      </p:graphicFrame>
      <p:graphicFrame>
        <p:nvGraphicFramePr>
          <p:cNvPr id="65540" name="Object 4"/>
          <p:cNvGraphicFramePr>
            <a:graphicFrameLocks noChangeAspect="1"/>
          </p:cNvGraphicFramePr>
          <p:nvPr/>
        </p:nvGraphicFramePr>
        <p:xfrm>
          <a:off x="1219200" y="3505200"/>
          <a:ext cx="2926534" cy="452438"/>
        </p:xfrm>
        <a:graphic>
          <a:graphicData uri="http://schemas.openxmlformats.org/presentationml/2006/ole">
            <p:oleObj spid="_x0000_s65540" name="Equation" r:id="rId5" imgW="1638000" imgH="253800" progId="Equation.DSMT4">
              <p:embed/>
            </p:oleObj>
          </a:graphicData>
        </a:graphic>
      </p:graphicFrame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4800600" y="3505200"/>
          <a:ext cx="1748685" cy="471488"/>
        </p:xfrm>
        <a:graphic>
          <a:graphicData uri="http://schemas.openxmlformats.org/presentationml/2006/ole">
            <p:oleObj spid="_x0000_s65541" name="Equation" r:id="rId6" imgW="939600" imgH="253800" progId="Equation.DSMT4">
              <p:embed/>
            </p:oleObj>
          </a:graphicData>
        </a:graphic>
      </p:graphicFrame>
      <p:graphicFrame>
        <p:nvGraphicFramePr>
          <p:cNvPr id="65542" name="Object 6"/>
          <p:cNvGraphicFramePr>
            <a:graphicFrameLocks noChangeAspect="1"/>
          </p:cNvGraphicFramePr>
          <p:nvPr/>
        </p:nvGraphicFramePr>
        <p:xfrm>
          <a:off x="4343400" y="3581400"/>
          <a:ext cx="282575" cy="207963"/>
        </p:xfrm>
        <a:graphic>
          <a:graphicData uri="http://schemas.openxmlformats.org/presentationml/2006/ole">
            <p:oleObj spid="_x0000_s65542" name="Equation" r:id="rId7" imgW="190440" imgH="139680" progId="Equation.DSMT4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1000" y="4191000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Issuer defaults if,</a:t>
            </a:r>
            <a:endParaRPr lang="en-US" sz="2000" dirty="0"/>
          </a:p>
        </p:txBody>
      </p:sp>
      <p:graphicFrame>
        <p:nvGraphicFramePr>
          <p:cNvPr id="65544" name="Object 8"/>
          <p:cNvGraphicFramePr>
            <a:graphicFrameLocks noChangeAspect="1"/>
          </p:cNvGraphicFramePr>
          <p:nvPr/>
        </p:nvGraphicFramePr>
        <p:xfrm>
          <a:off x="2514600" y="4038600"/>
          <a:ext cx="1600200" cy="820663"/>
        </p:xfrm>
        <a:graphic>
          <a:graphicData uri="http://schemas.openxmlformats.org/presentationml/2006/ole">
            <p:oleObj spid="_x0000_s65544" name="Equation" r:id="rId8" imgW="914400" imgH="469800" progId="Equation.DSMT4">
              <p:embed/>
            </p:oleObj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04800" y="4876800"/>
            <a:ext cx="6140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Probability of default conditional on common factor M is,</a:t>
            </a:r>
            <a:endParaRPr lang="en-US" sz="2000" dirty="0"/>
          </a:p>
        </p:txBody>
      </p:sp>
      <p:graphicFrame>
        <p:nvGraphicFramePr>
          <p:cNvPr id="65546" name="Object 10"/>
          <p:cNvGraphicFramePr>
            <a:graphicFrameLocks noChangeAspect="1"/>
          </p:cNvGraphicFramePr>
          <p:nvPr/>
        </p:nvGraphicFramePr>
        <p:xfrm>
          <a:off x="1982788" y="5410200"/>
          <a:ext cx="3046412" cy="881063"/>
        </p:xfrm>
        <a:graphic>
          <a:graphicData uri="http://schemas.openxmlformats.org/presentationml/2006/ole">
            <p:oleObj spid="_x0000_s65546" name="Equation" r:id="rId9" imgW="1930320" imgH="55872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One Factor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000" dirty="0" smtClean="0"/>
              <a:t>Probability that k out of N issuers default is,</a:t>
            </a:r>
            <a:endParaRPr lang="en-US" sz="2000" dirty="0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1600200" y="1905000"/>
          <a:ext cx="4897403" cy="796925"/>
        </p:xfrm>
        <a:graphic>
          <a:graphicData uri="http://schemas.openxmlformats.org/presentationml/2006/ole">
            <p:oleObj spid="_x0000_s66562" name="Equation" r:id="rId3" imgW="2806560" imgH="457200" progId="Equation.DSMT4">
              <p:embed/>
            </p:oleObj>
          </a:graphicData>
        </a:graphic>
      </p:graphicFrame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954088" y="3581400"/>
          <a:ext cx="5280025" cy="838200"/>
        </p:xfrm>
        <a:graphic>
          <a:graphicData uri="http://schemas.openxmlformats.org/presentationml/2006/ole">
            <p:oleObj spid="_x0000_s66563" name="Equation" r:id="rId4" imgW="2958840" imgH="469800" progId="Equation.DSMT4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895600"/>
            <a:ext cx="6934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Cumulative probability of percentage loss net exceeding        is,</a:t>
            </a:r>
            <a:endParaRPr lang="en-US" sz="2000" dirty="0"/>
          </a:p>
        </p:txBody>
      </p:sp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6400800" y="2895600"/>
          <a:ext cx="203200" cy="322263"/>
        </p:xfrm>
        <a:graphic>
          <a:graphicData uri="http://schemas.openxmlformats.org/presentationml/2006/ole">
            <p:oleObj spid="_x0000_s66564" name="Equation" r:id="rId5" imgW="126720" imgH="177480" progId="Equation.DSMT4">
              <p:embed/>
            </p:oleObj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0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Cumulative distribution of losses  for a large homogeneous portfolio is,</a:t>
            </a:r>
            <a:endParaRPr lang="en-US" sz="2000" dirty="0"/>
          </a:p>
        </p:txBody>
      </p:sp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1447800" y="5181600"/>
          <a:ext cx="4465638" cy="996950"/>
        </p:xfrm>
        <a:graphic>
          <a:graphicData uri="http://schemas.openxmlformats.org/presentationml/2006/ole">
            <p:oleObj spid="_x0000_s66565" name="Equation" r:id="rId6" imgW="2501640" imgH="55872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Gaussian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924800" cy="609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Plugging in Gaussian distribution in equation for tranche losses, we get: </a:t>
            </a:r>
            <a:endParaRPr lang="en-US" sz="2000" dirty="0"/>
          </a:p>
        </p:txBody>
      </p:sp>
      <p:graphicFrame>
        <p:nvGraphicFramePr>
          <p:cNvPr id="67586" name="Object 2"/>
          <p:cNvGraphicFramePr>
            <a:graphicFrameLocks noChangeAspect="1"/>
          </p:cNvGraphicFramePr>
          <p:nvPr/>
        </p:nvGraphicFramePr>
        <p:xfrm>
          <a:off x="533400" y="2438400"/>
          <a:ext cx="8001000" cy="838200"/>
        </p:xfrm>
        <a:graphic>
          <a:graphicData uri="http://schemas.openxmlformats.org/presentationml/2006/ole">
            <p:oleObj spid="_x0000_s67586" name="Equation" r:id="rId3" imgW="5473440" imgH="48240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890326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Here         is the cumulative normal distribution,          is the cumulative bi-</a:t>
            </a:r>
            <a:r>
              <a:rPr lang="en-US" dirty="0" err="1" smtClean="0"/>
              <a:t>variate</a:t>
            </a:r>
            <a:r>
              <a:rPr lang="en-US" dirty="0" smtClean="0"/>
              <a:t> normal distribution, and        is the covariance matrix: </a:t>
            </a:r>
            <a:endParaRPr lang="en-US" dirty="0"/>
          </a:p>
        </p:txBody>
      </p:sp>
      <p:graphicFrame>
        <p:nvGraphicFramePr>
          <p:cNvPr id="67587" name="Object 3"/>
          <p:cNvGraphicFramePr>
            <a:graphicFrameLocks noChangeAspect="1"/>
          </p:cNvGraphicFramePr>
          <p:nvPr/>
        </p:nvGraphicFramePr>
        <p:xfrm>
          <a:off x="5105400" y="3810000"/>
          <a:ext cx="565150" cy="495300"/>
        </p:xfrm>
        <a:graphic>
          <a:graphicData uri="http://schemas.openxmlformats.org/presentationml/2006/ole">
            <p:oleObj spid="_x0000_s67587" name="Equation" r:id="rId4" imgW="215640" imgH="228600" progId="Equation.DSMT4">
              <p:embed/>
            </p:oleObj>
          </a:graphicData>
        </a:graphic>
      </p:graphicFrame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1295400" y="3890326"/>
          <a:ext cx="431800" cy="330200"/>
        </p:xfrm>
        <a:graphic>
          <a:graphicData uri="http://schemas.openxmlformats.org/presentationml/2006/ole">
            <p:oleObj spid="_x0000_s67588" name="Equation" r:id="rId5" imgW="164880" imgH="152280" progId="Equation.DSMT4">
              <p:embed/>
            </p:oleObj>
          </a:graphicData>
        </a:graphic>
      </p:graphicFrame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3048000" y="4114800"/>
          <a:ext cx="381000" cy="311150"/>
        </p:xfrm>
        <a:graphic>
          <a:graphicData uri="http://schemas.openxmlformats.org/presentationml/2006/ole">
            <p:oleObj spid="_x0000_s67589" name="Equation" r:id="rId6" imgW="164880" imgH="164880" progId="Equation.DSMT4">
              <p:embed/>
            </p:oleObj>
          </a:graphicData>
        </a:graphic>
      </p:graphicFrame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2362201" y="4804726"/>
          <a:ext cx="2514599" cy="1027828"/>
        </p:xfrm>
        <a:graphic>
          <a:graphicData uri="http://schemas.openxmlformats.org/presentationml/2006/ole">
            <p:oleObj spid="_x0000_s67590" name="Equation" r:id="rId7" imgW="1714320" imgH="58392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Normal-Inverse Gaussian Distribution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524000"/>
            <a:ext cx="7221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NIG distribution is fat-tailed and skewed.  Its probability density function is,</a:t>
            </a:r>
          </a:p>
          <a:p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030288" y="2057400"/>
          <a:ext cx="6018212" cy="812800"/>
        </p:xfrm>
        <a:graphic>
          <a:graphicData uri="http://schemas.openxmlformats.org/presentationml/2006/ole">
            <p:oleObj spid="_x0000_s68610" name="Equation" r:id="rId3" imgW="4140000" imgH="558720" progId="Equation.DSMT4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2971800"/>
            <a:ext cx="7569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Here                            , and         is the modified Bessel function of the third kind,</a:t>
            </a:r>
            <a:endParaRPr lang="en-US" dirty="0"/>
          </a:p>
        </p:txBody>
      </p:sp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3124200" y="2971800"/>
          <a:ext cx="342900" cy="411480"/>
        </p:xfrm>
        <a:graphic>
          <a:graphicData uri="http://schemas.openxmlformats.org/presentationml/2006/ole">
            <p:oleObj spid="_x0000_s68611" name="Equation" r:id="rId4" imgW="190440" imgH="228600" progId="Equation.DSMT4">
              <p:embed/>
            </p:oleObj>
          </a:graphicData>
        </a:graphic>
      </p:graphicFrame>
      <p:graphicFrame>
        <p:nvGraphicFramePr>
          <p:cNvPr id="68612" name="Object 4"/>
          <p:cNvGraphicFramePr>
            <a:graphicFrameLocks noChangeAspect="1"/>
          </p:cNvGraphicFramePr>
          <p:nvPr/>
        </p:nvGraphicFramePr>
        <p:xfrm>
          <a:off x="2133600" y="3429000"/>
          <a:ext cx="3048000" cy="701176"/>
        </p:xfrm>
        <a:graphic>
          <a:graphicData uri="http://schemas.openxmlformats.org/presentationml/2006/ole">
            <p:oleObj spid="_x0000_s68612" name="Equation" r:id="rId5" imgW="2044440" imgH="469800" progId="Equation.DSMT4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" y="4343400"/>
            <a:ext cx="7073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Parameters:       - location,       - tail heaviness,      - asymmetry,        - scale</a:t>
            </a:r>
            <a:endParaRPr lang="en-US" dirty="0"/>
          </a:p>
        </p:txBody>
      </p:sp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1905000" y="4419600"/>
          <a:ext cx="304800" cy="330200"/>
        </p:xfrm>
        <a:graphic>
          <a:graphicData uri="http://schemas.openxmlformats.org/presentationml/2006/ole">
            <p:oleObj spid="_x0000_s68613" name="Equation" r:id="rId6" imgW="152280" imgH="164880" progId="Equation.DSMT4">
              <p:embed/>
            </p:oleObj>
          </a:graphicData>
        </a:graphic>
      </p:graphicFrame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3124200" y="4419600"/>
          <a:ext cx="332509" cy="304800"/>
        </p:xfrm>
        <a:graphic>
          <a:graphicData uri="http://schemas.openxmlformats.org/presentationml/2006/ole">
            <p:oleObj spid="_x0000_s68614" name="Equation" r:id="rId7" imgW="152280" imgH="139680" progId="Equation.DSMT4">
              <p:embed/>
            </p:oleObj>
          </a:graphicData>
        </a:graphic>
      </p:graphicFrame>
      <p:graphicFrame>
        <p:nvGraphicFramePr>
          <p:cNvPr id="68615" name="Object 7"/>
          <p:cNvGraphicFramePr>
            <a:graphicFrameLocks noChangeAspect="1"/>
          </p:cNvGraphicFramePr>
          <p:nvPr/>
        </p:nvGraphicFramePr>
        <p:xfrm>
          <a:off x="4876800" y="4343400"/>
          <a:ext cx="285750" cy="381000"/>
        </p:xfrm>
        <a:graphic>
          <a:graphicData uri="http://schemas.openxmlformats.org/presentationml/2006/ole">
            <p:oleObj spid="_x0000_s68615" name="Equation" r:id="rId8" imgW="152280" imgH="203040" progId="Equation.DSMT4">
              <p:embed/>
            </p:oleObj>
          </a:graphicData>
        </a:graphic>
      </p:graphicFrame>
      <p:graphicFrame>
        <p:nvGraphicFramePr>
          <p:cNvPr id="68616" name="Object 8"/>
          <p:cNvGraphicFramePr>
            <a:graphicFrameLocks noChangeAspect="1"/>
          </p:cNvGraphicFramePr>
          <p:nvPr/>
        </p:nvGraphicFramePr>
        <p:xfrm>
          <a:off x="6477000" y="4343400"/>
          <a:ext cx="304800" cy="387927"/>
        </p:xfrm>
        <a:graphic>
          <a:graphicData uri="http://schemas.openxmlformats.org/presentationml/2006/ole">
            <p:oleObj spid="_x0000_s68616" name="Equation" r:id="rId9" imgW="139680" imgH="177480" progId="Equation.DSMT4">
              <p:embed/>
            </p:oleObj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33400" y="5029200"/>
            <a:ext cx="1205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Moments: </a:t>
            </a:r>
            <a:endParaRPr lang="en-US" dirty="0"/>
          </a:p>
        </p:txBody>
      </p:sp>
      <p:graphicFrame>
        <p:nvGraphicFramePr>
          <p:cNvPr id="68617" name="Object 9"/>
          <p:cNvGraphicFramePr>
            <a:graphicFrameLocks noChangeAspect="1"/>
          </p:cNvGraphicFramePr>
          <p:nvPr/>
        </p:nvGraphicFramePr>
        <p:xfrm>
          <a:off x="1219200" y="2895600"/>
          <a:ext cx="1493693" cy="476250"/>
        </p:xfrm>
        <a:graphic>
          <a:graphicData uri="http://schemas.openxmlformats.org/presentationml/2006/ole">
            <p:oleObj spid="_x0000_s68617" name="Equation" r:id="rId10" imgW="876240" imgH="279360" progId="Equation.DSMT4">
              <p:embed/>
            </p:oleObj>
          </a:graphicData>
        </a:graphic>
      </p:graphicFrame>
      <p:graphicFrame>
        <p:nvGraphicFramePr>
          <p:cNvPr id="68618" name="Object 10"/>
          <p:cNvGraphicFramePr>
            <a:graphicFrameLocks noChangeAspect="1"/>
          </p:cNvGraphicFramePr>
          <p:nvPr/>
        </p:nvGraphicFramePr>
        <p:xfrm>
          <a:off x="1711325" y="5029200"/>
          <a:ext cx="2336800" cy="346075"/>
        </p:xfrm>
        <a:graphic>
          <a:graphicData uri="http://schemas.openxmlformats.org/presentationml/2006/ole">
            <p:oleObj spid="_x0000_s68618" name="Equation" r:id="rId11" imgW="1371600" imgH="203040" progId="Equation.DSMT4">
              <p:embed/>
            </p:oleObj>
          </a:graphicData>
        </a:graphic>
      </p:graphicFrame>
      <p:graphicFrame>
        <p:nvGraphicFramePr>
          <p:cNvPr id="68619" name="Object 11"/>
          <p:cNvGraphicFramePr>
            <a:graphicFrameLocks noChangeAspect="1"/>
          </p:cNvGraphicFramePr>
          <p:nvPr/>
        </p:nvGraphicFramePr>
        <p:xfrm>
          <a:off x="4495800" y="5029200"/>
          <a:ext cx="2511425" cy="388938"/>
        </p:xfrm>
        <a:graphic>
          <a:graphicData uri="http://schemas.openxmlformats.org/presentationml/2006/ole">
            <p:oleObj spid="_x0000_s68619" name="Equation" r:id="rId12" imgW="1473120" imgH="228600" progId="Equation.DSMT4">
              <p:embed/>
            </p:oleObj>
          </a:graphicData>
        </a:graphic>
      </p:graphicFrame>
      <p:graphicFrame>
        <p:nvGraphicFramePr>
          <p:cNvPr id="68620" name="Object 12"/>
          <p:cNvGraphicFramePr>
            <a:graphicFrameLocks noChangeAspect="1"/>
          </p:cNvGraphicFramePr>
          <p:nvPr/>
        </p:nvGraphicFramePr>
        <p:xfrm>
          <a:off x="1676400" y="5638800"/>
          <a:ext cx="2640013" cy="519112"/>
        </p:xfrm>
        <a:graphic>
          <a:graphicData uri="http://schemas.openxmlformats.org/presentationml/2006/ole">
            <p:oleObj spid="_x0000_s68620" name="Equation" r:id="rId13" imgW="1549080" imgH="304560" progId="Equation.DSMT4">
              <p:embed/>
            </p:oleObj>
          </a:graphicData>
        </a:graphic>
      </p:graphicFrame>
      <p:graphicFrame>
        <p:nvGraphicFramePr>
          <p:cNvPr id="68621" name="Object 13"/>
          <p:cNvGraphicFramePr>
            <a:graphicFrameLocks noChangeAspect="1"/>
          </p:cNvGraphicFramePr>
          <p:nvPr/>
        </p:nvGraphicFramePr>
        <p:xfrm>
          <a:off x="4648200" y="5638800"/>
          <a:ext cx="3419475" cy="474662"/>
        </p:xfrm>
        <a:graphic>
          <a:graphicData uri="http://schemas.openxmlformats.org/presentationml/2006/ole">
            <p:oleObj spid="_x0000_s68621" name="Equation" r:id="rId14" imgW="2006280" imgH="2793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Monte Carlo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Find Cholesky decomposition A of correlation matrix R=AA*.</a:t>
            </a:r>
          </a:p>
          <a:p>
            <a:r>
              <a:rPr lang="en-US" sz="2000" dirty="0" smtClean="0"/>
              <a:t>Simulate n independent random variables Z = (Z1, Z2, … , Zn)’ from normal distribution, where n is the number of paths.</a:t>
            </a:r>
          </a:p>
          <a:p>
            <a:r>
              <a:rPr lang="en-US" sz="2000" dirty="0" smtClean="0"/>
              <a:t>Let Y=AZ, then Y follows multivariate normal distribution with correlation R.</a:t>
            </a:r>
          </a:p>
          <a:p>
            <a:r>
              <a:rPr lang="en-US" sz="2000" dirty="0" smtClean="0"/>
              <a:t>Obtain default times (T1, T2, … , </a:t>
            </a:r>
            <a:r>
              <a:rPr lang="en-US" sz="2000" dirty="0" err="1" smtClean="0"/>
              <a:t>Tn</a:t>
            </a:r>
            <a:r>
              <a:rPr lang="en-US" sz="2000" dirty="0" smtClean="0"/>
              <a:t>) by mapping back the Y’s to the T’s by using equation,                                      for default probability, where         is the cumulative normal distribution function.</a:t>
            </a:r>
          </a:p>
          <a:p>
            <a:r>
              <a:rPr lang="en-US" sz="2000" dirty="0" smtClean="0"/>
              <a:t>Select subset of default times that are smaller than simulation time t.</a:t>
            </a:r>
          </a:p>
          <a:p>
            <a:r>
              <a:rPr lang="en-US" sz="2000" dirty="0" smtClean="0"/>
              <a:t>Compute cumulative loss  of portfolio of M names,</a:t>
            </a:r>
          </a:p>
          <a:p>
            <a:r>
              <a:rPr lang="en-US" sz="2000" dirty="0" smtClean="0"/>
              <a:t>Compute each tranches loss, default and premium legs.</a:t>
            </a:r>
          </a:p>
          <a:p>
            <a:r>
              <a:rPr lang="en-US" sz="2000" dirty="0" smtClean="0"/>
              <a:t>Compute breakeven spreads. </a:t>
            </a:r>
            <a:endParaRPr lang="en-US" sz="2000" dirty="0"/>
          </a:p>
        </p:txBody>
      </p:sp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2514600" y="3657600"/>
          <a:ext cx="2133600" cy="457200"/>
        </p:xfrm>
        <a:graphic>
          <a:graphicData uri="http://schemas.openxmlformats.org/presentationml/2006/ole">
            <p:oleObj spid="_x0000_s69634" name="Equation" r:id="rId3" imgW="1307880" imgH="253800" progId="Equation.DSMT4">
              <p:embed/>
            </p:oleObj>
          </a:graphicData>
        </a:graphic>
      </p:graphicFrame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7772400" y="3733800"/>
          <a:ext cx="330200" cy="304800"/>
        </p:xfrm>
        <a:graphic>
          <a:graphicData uri="http://schemas.openxmlformats.org/presentationml/2006/ole">
            <p:oleObj spid="_x0000_s69635" name="Equation" r:id="rId4" imgW="164880" imgH="152280" progId="Equation.DSMT4">
              <p:embed/>
            </p:oleObj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183313" y="4572000"/>
          <a:ext cx="2714625" cy="782638"/>
        </p:xfrm>
        <a:graphic>
          <a:graphicData uri="http://schemas.openxmlformats.org/presentationml/2006/ole">
            <p:oleObj spid="_x0000_s69637" name="Equation" r:id="rId5" imgW="1498320" imgH="431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Bank Capital Regulation </a:t>
            </a:r>
            <a:br>
              <a:rPr lang="en-US" sz="3600" dirty="0" smtClean="0"/>
            </a:br>
            <a:r>
              <a:rPr lang="en-US" sz="3600" dirty="0" smtClean="0"/>
              <a:t>(Basel II Internal Ratings Based Approach)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ChangeAspect="1"/>
          </p:cNvGraphicFramePr>
          <p:nvPr>
            <p:ph idx="1"/>
          </p:nvPr>
        </p:nvGraphicFramePr>
        <p:xfrm>
          <a:off x="1219200" y="4332288"/>
          <a:ext cx="7391400" cy="833437"/>
        </p:xfrm>
        <a:graphic>
          <a:graphicData uri="http://schemas.openxmlformats.org/presentationml/2006/ole">
            <p:oleObj spid="_x0000_s1026" name="Equation" r:id="rId3" imgW="4952880" imgH="55872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38100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Capital requirement: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219200" y="5638800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Correlation:</a:t>
            </a:r>
            <a:endParaRPr lang="en-US" sz="2000" dirty="0"/>
          </a:p>
        </p:txBody>
      </p:sp>
      <p:graphicFrame>
        <p:nvGraphicFramePr>
          <p:cNvPr id="1027" name="Content Placeholder 3"/>
          <p:cNvGraphicFramePr>
            <a:graphicFrameLocks noChangeAspect="1"/>
          </p:cNvGraphicFramePr>
          <p:nvPr/>
        </p:nvGraphicFramePr>
        <p:xfrm>
          <a:off x="3246438" y="5441950"/>
          <a:ext cx="3413125" cy="835025"/>
        </p:xfrm>
        <a:graphic>
          <a:graphicData uri="http://schemas.openxmlformats.org/presentationml/2006/ole">
            <p:oleObj spid="_x0000_s1027" name="Equation" r:id="rId4" imgW="2197080" imgH="469800" progId="Equation.DSMT4">
              <p:embed/>
            </p:oleObj>
          </a:graphicData>
        </a:graphic>
      </p:graphicFrame>
      <p:graphicFrame>
        <p:nvGraphicFramePr>
          <p:cNvPr id="1028" name="Content Placeholder 3"/>
          <p:cNvGraphicFramePr>
            <a:graphicFrameLocks noChangeAspect="1"/>
          </p:cNvGraphicFramePr>
          <p:nvPr/>
        </p:nvGraphicFramePr>
        <p:xfrm>
          <a:off x="1143000" y="2743200"/>
          <a:ext cx="6834188" cy="931863"/>
        </p:xfrm>
        <a:graphic>
          <a:graphicData uri="http://schemas.openxmlformats.org/presentationml/2006/ole">
            <p:oleObj spid="_x0000_s1028" name="Equation" r:id="rId5" imgW="4431960" imgH="558720" progId="Equation.DSMT4">
              <p:embed/>
            </p:oleObj>
          </a:graphicData>
        </a:graphic>
      </p:graphicFrame>
      <p:sp>
        <p:nvSpPr>
          <p:cNvPr id="8" name="Rectangle 7"/>
          <p:cNvSpPr/>
          <p:nvPr/>
        </p:nvSpPr>
        <p:spPr>
          <a:xfrm>
            <a:off x="760808" y="1828800"/>
            <a:ext cx="83831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α- Percentile of the loss fraction distribution of a Large Homogenous Portfolio: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Bank Capital Regulation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457200" y="1905000"/>
          <a:ext cx="3810000" cy="3733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4495800" y="1905000"/>
          <a:ext cx="4343400" cy="3733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1433</Words>
  <Application>Microsoft Office PowerPoint</Application>
  <PresentationFormat>On-screen Show (4:3)</PresentationFormat>
  <Paragraphs>274</Paragraphs>
  <Slides>26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Office Theme</vt:lpstr>
      <vt:lpstr>Equation</vt:lpstr>
      <vt:lpstr>Credit Derivatives </vt:lpstr>
      <vt:lpstr>Overview</vt:lpstr>
      <vt:lpstr>OTC Credit Derivatives Market Size</vt:lpstr>
      <vt:lpstr>CDS Definition</vt:lpstr>
      <vt:lpstr>Credit Event</vt:lpstr>
      <vt:lpstr>Credit Default Swap</vt:lpstr>
      <vt:lpstr>CDS Cash Flows</vt:lpstr>
      <vt:lpstr>CDS Cash Flows</vt:lpstr>
      <vt:lpstr>Net Present Value of CDS Cash Flows</vt:lpstr>
      <vt:lpstr>Reduced-Form Approach</vt:lpstr>
      <vt:lpstr>Reduced-Form Approach</vt:lpstr>
      <vt:lpstr>Sovereign Default Probabilities (from Deutsche Bank Research)</vt:lpstr>
      <vt:lpstr>Collateralized Debt Obligations</vt:lpstr>
      <vt:lpstr>CDO Market Share</vt:lpstr>
      <vt:lpstr>Structure of CDO</vt:lpstr>
      <vt:lpstr>iTraxx Index</vt:lpstr>
      <vt:lpstr>Monthly iTraxx Tranche for March 28th, 2013</vt:lpstr>
      <vt:lpstr>CDX Index</vt:lpstr>
      <vt:lpstr>Pricing CDO Tranche</vt:lpstr>
      <vt:lpstr>One Factor Model</vt:lpstr>
      <vt:lpstr>One Factor Model</vt:lpstr>
      <vt:lpstr>Gaussian Distribution</vt:lpstr>
      <vt:lpstr>Normal-Inverse Gaussian Distribution</vt:lpstr>
      <vt:lpstr>Monte Carlo Algorithm</vt:lpstr>
      <vt:lpstr>Bank Capital Regulation  (Basel II Internal Ratings Based Approach)</vt:lpstr>
      <vt:lpstr>Bank Capital Regulation</vt:lpstr>
    </vt:vector>
  </TitlesOfParts>
  <Company>International Monetary Fund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Derivatives</dc:title>
  <dc:creator>agoumilevski</dc:creator>
  <cp:lastModifiedBy>AGoumilevski</cp:lastModifiedBy>
  <cp:revision>191</cp:revision>
  <dcterms:created xsi:type="dcterms:W3CDTF">2015-02-06T16:47:07Z</dcterms:created>
  <dcterms:modified xsi:type="dcterms:W3CDTF">2015-02-19T18:03:00Z</dcterms:modified>
</cp:coreProperties>
</file>